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7870e13e954e50" /><Relationship Type="http://schemas.openxmlformats.org/officeDocument/2006/relationships/extended-properties" Target="/docProps/app.xml" Id="Ra51a0b07c7664b26" /><Relationship Type="http://schemas.openxmlformats.org/officeDocument/2006/relationships/officeDocument" Target="/ppt/presentation.xml" Id="Rb0e40f002ba54ad5" /></Relationships>
</file>

<file path=ppt/presentation.xml><?xml version="1.0" encoding="utf-8"?>
<p:presentation xmlns:p="http://schemas.openxmlformats.org/presentationml/2006/main">
  <p:sldMasterIdLst>
    <p:sldMasterId xmlns:r="http://schemas.openxmlformats.org/officeDocument/2006/relationships" id="2147483648" r:id="R0be8889517994d45"/>
  </p:sldMasterIdLst>
  <p:notesMasterIdLst>
    <p:notesMasterId xmlns:r="http://schemas.openxmlformats.org/officeDocument/2006/relationships" r:id="R7799f029aa2a4b99"/>
  </p:notesMasterIdLst>
  <p:sldIdLst>
    <p:sldId xmlns:r="http://schemas.openxmlformats.org/officeDocument/2006/relationships" id="256" r:id="R15819711f69e4390"/>
    <p:sldId xmlns:r="http://schemas.openxmlformats.org/officeDocument/2006/relationships" id="257" r:id="R2e8771c02a1b494e"/>
    <p:sldId xmlns:r="http://schemas.openxmlformats.org/officeDocument/2006/relationships" id="258" r:id="R95cb30523d3b4afb"/>
    <p:sldId xmlns:r="http://schemas.openxmlformats.org/officeDocument/2006/relationships" id="259" r:id="R3430ee811009457a"/>
    <p:sldId xmlns:r="http://schemas.openxmlformats.org/officeDocument/2006/relationships" id="260" r:id="R1d0b6b48450946ad"/>
    <p:sldId xmlns:r="http://schemas.openxmlformats.org/officeDocument/2006/relationships" id="261" r:id="Rbea509f00c2a4a4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a46b80fde048cb" /><Relationship Type="http://schemas.openxmlformats.org/officeDocument/2006/relationships/slideMaster" Target="/ppt/slideMasters/slideMaster1.xml" Id="R0be8889517994d45" /><Relationship Type="http://schemas.openxmlformats.org/officeDocument/2006/relationships/notesMaster" Target="/ppt/notesMasters/notesMaster1.xml" Id="R7799f029aa2a4b99" /><Relationship Type="http://schemas.openxmlformats.org/officeDocument/2006/relationships/presProps" Target="/ppt/presProps.xml" Id="Re6cedf18b3b646cf" /><Relationship Type="http://schemas.openxmlformats.org/officeDocument/2006/relationships/tableStyles" Target="/ppt/tableStyles.xml" Id="R86a9c5b0bf14475f" /><Relationship Type="http://schemas.openxmlformats.org/officeDocument/2006/relationships/slide" Target="/ppt/slides/slide1.xml" Id="R15819711f69e4390" /><Relationship Type="http://schemas.openxmlformats.org/officeDocument/2006/relationships/slide" Target="/ppt/slides/slide2.xml" Id="R2e8771c02a1b494e" /><Relationship Type="http://schemas.openxmlformats.org/officeDocument/2006/relationships/slide" Target="/ppt/slides/slide3.xml" Id="R95cb30523d3b4afb" /><Relationship Type="http://schemas.openxmlformats.org/officeDocument/2006/relationships/slide" Target="/ppt/slides/slide4.xml" Id="R3430ee811009457a" /><Relationship Type="http://schemas.openxmlformats.org/officeDocument/2006/relationships/slide" Target="/ppt/slides/slide5.xml" Id="R1d0b6b48450946ad" /><Relationship Type="http://schemas.openxmlformats.org/officeDocument/2006/relationships/slide" Target="/ppt/slides/slide6.xml" Id="Rbea509f00c2a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d25239b3964f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0361c0a5b4fc4" /><Relationship Type="http://schemas.openxmlformats.org/officeDocument/2006/relationships/notesMaster" Target="/ppt/notesMasters/notesMaster1.xml" Id="R5e07cb473cbd47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fd492fb70f4035" /><Relationship Type="http://schemas.openxmlformats.org/officeDocument/2006/relationships/notesMaster" Target="/ppt/notesMasters/notesMaster1.xml" Id="R8be92019deb947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2f6b04a5c4419b" /><Relationship Type="http://schemas.openxmlformats.org/officeDocument/2006/relationships/notesMaster" Target="/ppt/notesMasters/notesMaster1.xml" Id="Ra688d2c4483d46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e0be5fb48f4848" /><Relationship Type="http://schemas.openxmlformats.org/officeDocument/2006/relationships/notesMaster" Target="/ppt/notesMasters/notesMaster1.xml" Id="Rdfb8dc79419c4d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299e5f19e24f07" /><Relationship Type="http://schemas.openxmlformats.org/officeDocument/2006/relationships/notesMaster" Target="/ppt/notesMasters/notesMaster1.xml" Id="R7f017fbf3c2642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48a612debe4eb9" /><Relationship Type="http://schemas.openxmlformats.org/officeDocument/2006/relationships/notesMaster" Target="/ppt/notesMasters/notesMaster1.xml" Id="Rfde95dfab6a544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an advanced extension of Lesson 1. The main point is that prompt caching does not break the Paper Model; it explains how repeated paper sections can be processed more efficiently.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the common misconception that a model call only receives the newest message. In real systems, each round is built from the visible context: instructions, history, files, tool results, and the current user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cache as repeated-prefix reuse. Do not say less paper is sent to the model. Say the repeated prefix is still part of the visible paper, but the provider can reuse processing for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Anthropic's terms as the clearest teaching example, while noting provider details differ. Cache write means a reusable prefix is created; cache read means a later call hits that prefix.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stable system prompts, tool definitions, and long reference docs are usually better near the beginning, while the current user message and fresh tool results change near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separating cache from memory, retrieval, compaction, and context. If something is not in the visible paper, cache does not make the model know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684e8813af44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98f0b80c8b459d" /><Relationship Type="http://schemas.openxmlformats.org/officeDocument/2006/relationships/slideLayout" Target="/ppt/slideLayouts/slideLayout1.xml" Id="Rca552073c5f7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552073c5f7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270d69f6314793" /><Relationship Type="http://schemas.openxmlformats.org/officeDocument/2006/relationships/notesSlide" Target="/ppt/notesSlides/notesSlide1.xml" Id="Rc1463141f9034f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8f7cfa8a984917" /><Relationship Type="http://schemas.openxmlformats.org/officeDocument/2006/relationships/notesSlide" Target="/ppt/notesSlides/notesSlide2.xml" Id="R0f1523ce63a646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370a140bc54680" /><Relationship Type="http://schemas.openxmlformats.org/officeDocument/2006/relationships/notesSlide" Target="/ppt/notesSlides/notesSlide3.xml" Id="Rc9247a0b343b47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8551d064954984" /><Relationship Type="http://schemas.openxmlformats.org/officeDocument/2006/relationships/notesSlide" Target="/ppt/notesSlides/notesSlide4.xml" Id="Rcbdc9921c2eb43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ecdb49f1014093" /><Relationship Type="http://schemas.openxmlformats.org/officeDocument/2006/relationships/notesSlide" Target="/ppt/notesSlides/notesSlide5.xml" Id="R9302b288b9184c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4bb6714ce94553" /><Relationship Type="http://schemas.openxmlformats.org/officeDocument/2006/relationships/notesSlide" Target="/ppt/notesSlides/notesSlide6.xml" Id="R9720ab5961b0484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1216A7-6FAC-47DF-9301-C98509075C42}"/>
              </a:ext>
            </a:extLst>
          </p:cNvPr>
          <p:cNvSpPr>
            <a:spLocks xmlns:a="http://schemas.openxmlformats.org/drawingml/2006/main" noGrp="1"/>
          </p:cNvSpPr>
          <p:nvPr/>
        </p:nvSpPr>
        <p:spPr>
          <a:xfrm xmlns:a="http://schemas.openxmlformats.org/drawingml/2006/main">
            <a:off x="609600" y="342900"/>
            <a:ext cx="3810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i="0">
                <a:solidFill>
                  <a:srgbClr val="061A45"/>
                </a:solidFill>
              </a:defRPr>
            </a:pPr>
            <a:r>
              <a:rPr sz="4200" b="1" i="0">
                <a:solidFill>
                  <a:srgbClr val="061A45"/>
                </a:solidFill>
              </a:rPr>
              <a:t>1.1 Advanced</a:t>
            </a:r>
          </a:p>
        </p:txBody>
      </p:sp>
      <p:sp>
        <p:nvSpPr>
          <p:cNvPr id="2" name="">
            <a:extLst xmlns:a="http://schemas.openxmlformats.org/drawingml/2006/main">
              <a:ext uri="{FF2B5EF4-FFF2-40B4-BE49-F238E27FC236}">
                <a16:creationId xmlns:a16="http://schemas.microsoft.com/office/drawing/2014/main" id="{329A3DD2-4DC5-4E2B-A6C6-1E3EAFF4DB0F}"/>
              </a:ext>
            </a:extLst>
          </p:cNvPr>
          <p:cNvSpPr>
            <a:spLocks xmlns:a="http://schemas.openxmlformats.org/drawingml/2006/main" noGrp="1"/>
          </p:cNvSpPr>
          <p:nvPr/>
        </p:nvSpPr>
        <p:spPr>
          <a:xfrm xmlns:a="http://schemas.openxmlformats.org/drawingml/2006/main">
            <a:off x="4476750" y="476250"/>
            <a:ext cx="685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Visible Paper and Prompt Cache</a:t>
            </a:r>
          </a:p>
        </p:txBody>
      </p:sp>
      <p:sp>
        <p:nvSpPr>
          <p:cNvPr id="3" name="">
            <a:extLst xmlns:a="http://schemas.openxmlformats.org/drawingml/2006/main">
              <a:ext uri="{FF2B5EF4-FFF2-40B4-BE49-F238E27FC236}">
                <a16:creationId xmlns:a16="http://schemas.microsoft.com/office/drawing/2014/main" id="{AEECB9EF-D57E-4747-844B-B2D61E189E79}"/>
              </a:ext>
            </a:extLst>
          </p:cNvPr>
          <p:cNvSpPr>
            <a:spLocks xmlns:a="http://schemas.openxmlformats.org/drawingml/2006/main" noGrp="1"/>
          </p:cNvSpPr>
          <p:nvPr/>
        </p:nvSpPr>
        <p:spPr>
          <a:xfrm xmlns:a="http://schemas.openxmlformats.org/drawingml/2006/main">
            <a:off x="2095500" y="10668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Cache optimizes repeated input; it does not change what the model can see.</a:t>
            </a:r>
          </a:p>
        </p:txBody>
      </p:sp>
      <p:sp>
        <p:nvSpPr>
          <p:cNvPr id="4" name="">
            <a:extLst xmlns:a="http://schemas.openxmlformats.org/drawingml/2006/main">
              <a:ext uri="{FF2B5EF4-FFF2-40B4-BE49-F238E27FC236}">
                <a16:creationId xmlns:a16="http://schemas.microsoft.com/office/drawing/2014/main" id="{7F9E43DF-7A2C-4DF3-93BA-68DF913316F4}"/>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ln xmlns:a="http://schemas.openxmlformats.org/drawingml/2006/main" w="19050">
            <a:solidFill>
              <a:srgbClr val="004AAD"/>
            </a:solidFill>
            <a:prstDash val="solid"/>
          </a:ln>
        </p:spPr>
      </p:sp>
      <p:sp>
        <p:nvSpPr>
          <p:cNvPr id="5" name="">
            <a:extLst xmlns:a="http://schemas.openxmlformats.org/drawingml/2006/main">
              <a:ext uri="{FF2B5EF4-FFF2-40B4-BE49-F238E27FC236}">
                <a16:creationId xmlns:a16="http://schemas.microsoft.com/office/drawing/2014/main" id="{41092947-35C1-4799-A794-F9C39AA9984C}"/>
              </a:ext>
            </a:extLst>
          </p:cNvPr>
          <p:cNvSpPr>
            <a:spLocks xmlns:a="http://schemas.openxmlformats.org/drawingml/2006/main" noGrp="1"/>
          </p:cNvSpPr>
          <p:nvPr/>
        </p:nvSpPr>
        <p:spPr>
          <a:xfrm xmlns:a="http://schemas.openxmlformats.org/drawingml/2006/main">
            <a:off x="609600" y="1790700"/>
            <a:ext cx="3314700" cy="2952750"/>
          </a:xfrm>
          <a:prstGeom xmlns:a="http://schemas.openxmlformats.org/drawingml/2006/main" prst="roundRect">
            <a:avLst>
              <a:gd name="adj" fmla="val 2581"/>
            </a:avLst>
          </a:prstGeom>
          <a:solidFill xmlns:a="http://schemas.openxmlformats.org/drawingml/2006/main">
            <a:srgbClr val="F8FBFF"/>
          </a:solidFill>
          <a:ln xmlns:a="http://schemas.openxmlformats.org/drawingml/2006/main" w="10478">
            <a:solidFill>
              <a:srgbClr val="B9D4F6"/>
            </a:solidFill>
            <a:prstDash val="solid"/>
          </a:ln>
        </p:spPr>
      </p:sp>
      <p:sp>
        <p:nvSpPr>
          <p:cNvPr id="6" name="">
            <a:extLst xmlns:a="http://schemas.openxmlformats.org/drawingml/2006/main">
              <a:ext uri="{FF2B5EF4-FFF2-40B4-BE49-F238E27FC236}">
                <a16:creationId xmlns:a16="http://schemas.microsoft.com/office/drawing/2014/main" id="{832EC5B3-97BF-4446-A73D-FC96B06BDB0D}"/>
              </a:ext>
            </a:extLst>
          </p:cNvPr>
          <p:cNvSpPr>
            <a:spLocks xmlns:a="http://schemas.openxmlformats.org/drawingml/2006/main" noGrp="1"/>
          </p:cNvSpPr>
          <p:nvPr/>
        </p:nvSpPr>
        <p:spPr>
          <a:xfrm xmlns:a="http://schemas.openxmlformats.org/drawingml/2006/main">
            <a:off x="876300" y="20574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4AAD"/>
                </a:solidFill>
              </a:defRPr>
            </a:pPr>
            <a:r>
              <a:rPr sz="2100" b="1" i="0">
                <a:solidFill>
                  <a:srgbClr val="004AAD"/>
                </a:solidFill>
              </a:rPr>
              <a:t>What stays true</a:t>
            </a:r>
          </a:p>
        </p:txBody>
      </p:sp>
      <p:sp>
        <p:nvSpPr>
          <p:cNvPr id="7" name="">
            <a:extLst xmlns:a="http://schemas.openxmlformats.org/drawingml/2006/main">
              <a:ext uri="{FF2B5EF4-FFF2-40B4-BE49-F238E27FC236}">
                <a16:creationId xmlns:a16="http://schemas.microsoft.com/office/drawing/2014/main" id="{DE43B1D2-D420-4ECB-8687-D2AB456A904E}"/>
              </a:ext>
            </a:extLst>
          </p:cNvPr>
          <p:cNvSpPr>
            <a:spLocks xmlns:a="http://schemas.openxmlformats.org/drawingml/2006/main" noGrp="1"/>
          </p:cNvSpPr>
          <p:nvPr/>
        </p:nvSpPr>
        <p:spPr>
          <a:xfrm xmlns:a="http://schemas.openxmlformats.org/drawingml/2006/main">
            <a:off x="895350" y="257175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B9D4F6"/>
            </a:solidFill>
            <a:prstDash val="solid"/>
          </a:ln>
        </p:spPr>
      </p:sp>
      <p:sp>
        <p:nvSpPr>
          <p:cNvPr id="8" name="">
            <a:extLst xmlns:a="http://schemas.openxmlformats.org/drawingml/2006/main">
              <a:ext uri="{FF2B5EF4-FFF2-40B4-BE49-F238E27FC236}">
                <a16:creationId xmlns:a16="http://schemas.microsoft.com/office/drawing/2014/main" id="{0BEF613C-0503-4FF9-BE08-F65BD873929C}"/>
              </a:ext>
            </a:extLst>
          </p:cNvPr>
          <p:cNvSpPr>
            <a:spLocks xmlns:a="http://schemas.openxmlformats.org/drawingml/2006/main" noGrp="1"/>
          </p:cNvSpPr>
          <p:nvPr/>
        </p:nvSpPr>
        <p:spPr>
          <a:xfrm xmlns:a="http://schemas.openxmlformats.org/drawingml/2006/main">
            <a:off x="1066800" y="26860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The model reads this call's paper</a:t>
            </a:r>
          </a:p>
        </p:txBody>
      </p:sp>
      <p:sp>
        <p:nvSpPr>
          <p:cNvPr id="9" name="">
            <a:extLst xmlns:a="http://schemas.openxmlformats.org/drawingml/2006/main">
              <a:ext uri="{FF2B5EF4-FFF2-40B4-BE49-F238E27FC236}">
                <a16:creationId xmlns:a16="http://schemas.microsoft.com/office/drawing/2014/main" id="{5862252E-F6F8-4BC8-90DB-076E484038B7}"/>
              </a:ext>
            </a:extLst>
          </p:cNvPr>
          <p:cNvSpPr>
            <a:spLocks xmlns:a="http://schemas.openxmlformats.org/drawingml/2006/main" noGrp="1"/>
          </p:cNvSpPr>
          <p:nvPr/>
        </p:nvSpPr>
        <p:spPr>
          <a:xfrm xmlns:a="http://schemas.openxmlformats.org/drawingml/2006/main">
            <a:off x="895350" y="316230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B9D4F6"/>
            </a:solidFill>
            <a:prstDash val="solid"/>
          </a:ln>
        </p:spPr>
      </p:sp>
      <p:sp>
        <p:nvSpPr>
          <p:cNvPr id="10" name="">
            <a:extLst xmlns:a="http://schemas.openxmlformats.org/drawingml/2006/main">
              <a:ext uri="{FF2B5EF4-FFF2-40B4-BE49-F238E27FC236}">
                <a16:creationId xmlns:a16="http://schemas.microsoft.com/office/drawing/2014/main" id="{0DDFEC7E-26C7-4091-8A1A-EBEBF1AF4EDD}"/>
              </a:ext>
            </a:extLst>
          </p:cNvPr>
          <p:cNvSpPr>
            <a:spLocks xmlns:a="http://schemas.openxmlformats.org/drawingml/2006/main" noGrp="1"/>
          </p:cNvSpPr>
          <p:nvPr/>
        </p:nvSpPr>
        <p:spPr>
          <a:xfrm xmlns:a="http://schemas.openxmlformats.org/drawingml/2006/main">
            <a:off x="1066800" y="3276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The visible context still sets the boundary</a:t>
            </a:r>
          </a:p>
        </p:txBody>
      </p:sp>
      <p:sp>
        <p:nvSpPr>
          <p:cNvPr id="11" name="">
            <a:extLst xmlns:a="http://schemas.openxmlformats.org/drawingml/2006/main">
              <a:ext uri="{FF2B5EF4-FFF2-40B4-BE49-F238E27FC236}">
                <a16:creationId xmlns:a16="http://schemas.microsoft.com/office/drawing/2014/main" id="{DD9D2F93-95BD-40E4-9E7E-DDBFBD8531EE}"/>
              </a:ext>
            </a:extLst>
          </p:cNvPr>
          <p:cNvSpPr>
            <a:spLocks xmlns:a="http://schemas.openxmlformats.org/drawingml/2006/main" noGrp="1"/>
          </p:cNvSpPr>
          <p:nvPr/>
        </p:nvSpPr>
        <p:spPr>
          <a:xfrm xmlns:a="http://schemas.openxmlformats.org/drawingml/2006/main">
            <a:off x="895350" y="375285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B9D4F6"/>
            </a:solidFill>
            <a:prstDash val="solid"/>
          </a:ln>
        </p:spPr>
      </p:sp>
      <p:sp>
        <p:nvSpPr>
          <p:cNvPr id="12" name="">
            <a:extLst xmlns:a="http://schemas.openxmlformats.org/drawingml/2006/main">
              <a:ext uri="{FF2B5EF4-FFF2-40B4-BE49-F238E27FC236}">
                <a16:creationId xmlns:a16="http://schemas.microsoft.com/office/drawing/2014/main" id="{A4082BB6-DAA5-4146-AD8E-3464DDDCCA43}"/>
              </a:ext>
            </a:extLst>
          </p:cNvPr>
          <p:cNvSpPr>
            <a:spLocks xmlns:a="http://schemas.openxmlformats.org/drawingml/2006/main" noGrp="1"/>
          </p:cNvSpPr>
          <p:nvPr/>
        </p:nvSpPr>
        <p:spPr>
          <a:xfrm xmlns:a="http://schemas.openxmlformats.org/drawingml/2006/main">
            <a:off x="1066800" y="3867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The next token is generated from that context</a:t>
            </a:r>
          </a:p>
        </p:txBody>
      </p:sp>
      <p:sp>
        <p:nvSpPr>
          <p:cNvPr id="13" name="">
            <a:extLst xmlns:a="http://schemas.openxmlformats.org/drawingml/2006/main">
              <a:ext uri="{FF2B5EF4-FFF2-40B4-BE49-F238E27FC236}">
                <a16:creationId xmlns:a16="http://schemas.microsoft.com/office/drawing/2014/main" id="{243948E5-726F-4B38-BBDA-58BB997872DB}"/>
              </a:ext>
            </a:extLst>
          </p:cNvPr>
          <p:cNvSpPr>
            <a:spLocks xmlns:a="http://schemas.openxmlformats.org/drawingml/2006/main" noGrp="1"/>
          </p:cNvSpPr>
          <p:nvPr/>
        </p:nvSpPr>
        <p:spPr>
          <a:xfrm xmlns:a="http://schemas.openxmlformats.org/drawingml/2006/main">
            <a:off x="4438650" y="1790700"/>
            <a:ext cx="3314700" cy="2952750"/>
          </a:xfrm>
          <a:prstGeom xmlns:a="http://schemas.openxmlformats.org/drawingml/2006/main" prst="roundRect">
            <a:avLst>
              <a:gd name="adj" fmla="val 2581"/>
            </a:avLst>
          </a:prstGeom>
          <a:solidFill xmlns:a="http://schemas.openxmlformats.org/drawingml/2006/main">
            <a:srgbClr val="EEF6FF"/>
          </a:solidFill>
          <a:ln xmlns:a="http://schemas.openxmlformats.org/drawingml/2006/main" w="10478">
            <a:solidFill>
              <a:srgbClr val="B9D4F6"/>
            </a:solidFill>
            <a:prstDash val="solid"/>
          </a:ln>
        </p:spPr>
      </p:sp>
      <p:sp>
        <p:nvSpPr>
          <p:cNvPr id="14" name="">
            <a:extLst xmlns:a="http://schemas.openxmlformats.org/drawingml/2006/main">
              <a:ext uri="{FF2B5EF4-FFF2-40B4-BE49-F238E27FC236}">
                <a16:creationId xmlns:a16="http://schemas.microsoft.com/office/drawing/2014/main" id="{B9D6AB37-1C29-49FC-B27D-EA4D7B61F0C0}"/>
              </a:ext>
            </a:extLst>
          </p:cNvPr>
          <p:cNvSpPr>
            <a:spLocks xmlns:a="http://schemas.openxmlformats.org/drawingml/2006/main" noGrp="1"/>
          </p:cNvSpPr>
          <p:nvPr/>
        </p:nvSpPr>
        <p:spPr>
          <a:xfrm xmlns:a="http://schemas.openxmlformats.org/drawingml/2006/main">
            <a:off x="4705350" y="20574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4AAD"/>
                </a:solidFill>
              </a:defRPr>
            </a:pPr>
            <a:r>
              <a:rPr sz="2100" b="1" i="0">
                <a:solidFill>
                  <a:srgbClr val="004AAD"/>
                </a:solidFill>
              </a:rPr>
              <a:t>What cache adds</a:t>
            </a:r>
          </a:p>
        </p:txBody>
      </p:sp>
      <p:sp>
        <p:nvSpPr>
          <p:cNvPr id="15" name="">
            <a:extLst xmlns:a="http://schemas.openxmlformats.org/drawingml/2006/main">
              <a:ext uri="{FF2B5EF4-FFF2-40B4-BE49-F238E27FC236}">
                <a16:creationId xmlns:a16="http://schemas.microsoft.com/office/drawing/2014/main" id="{80C172E8-0C16-486E-924A-4E02350AFF50}"/>
              </a:ext>
            </a:extLst>
          </p:cNvPr>
          <p:cNvSpPr>
            <a:spLocks xmlns:a="http://schemas.openxmlformats.org/drawingml/2006/main" noGrp="1"/>
          </p:cNvSpPr>
          <p:nvPr/>
        </p:nvSpPr>
        <p:spPr>
          <a:xfrm xmlns:a="http://schemas.openxmlformats.org/drawingml/2006/main">
            <a:off x="4724400" y="257175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B9D4F6"/>
            </a:solidFill>
            <a:prstDash val="solid"/>
          </a:ln>
        </p:spPr>
      </p:sp>
      <p:sp>
        <p:nvSpPr>
          <p:cNvPr id="16" name="">
            <a:extLst xmlns:a="http://schemas.openxmlformats.org/drawingml/2006/main">
              <a:ext uri="{FF2B5EF4-FFF2-40B4-BE49-F238E27FC236}">
                <a16:creationId xmlns:a16="http://schemas.microsoft.com/office/drawing/2014/main" id="{5976BF35-4099-4C87-9B99-7C545E38690E}"/>
              </a:ext>
            </a:extLst>
          </p:cNvPr>
          <p:cNvSpPr>
            <a:spLocks xmlns:a="http://schemas.openxmlformats.org/drawingml/2006/main" noGrp="1"/>
          </p:cNvSpPr>
          <p:nvPr/>
        </p:nvSpPr>
        <p:spPr>
          <a:xfrm xmlns:a="http://schemas.openxmlformats.org/drawingml/2006/main">
            <a:off x="4895850" y="26860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Repeated prefix may be reused</a:t>
            </a:r>
          </a:p>
        </p:txBody>
      </p:sp>
      <p:sp>
        <p:nvSpPr>
          <p:cNvPr id="17" name="">
            <a:extLst xmlns:a="http://schemas.openxmlformats.org/drawingml/2006/main">
              <a:ext uri="{FF2B5EF4-FFF2-40B4-BE49-F238E27FC236}">
                <a16:creationId xmlns:a16="http://schemas.microsoft.com/office/drawing/2014/main" id="{F5FA6325-0BED-4132-AB94-2CA872939BCB}"/>
              </a:ext>
            </a:extLst>
          </p:cNvPr>
          <p:cNvSpPr>
            <a:spLocks xmlns:a="http://schemas.openxmlformats.org/drawingml/2006/main" noGrp="1"/>
          </p:cNvSpPr>
          <p:nvPr/>
        </p:nvSpPr>
        <p:spPr>
          <a:xfrm xmlns:a="http://schemas.openxmlformats.org/drawingml/2006/main">
            <a:off x="4724400" y="316230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B9D4F6"/>
            </a:solidFill>
            <a:prstDash val="solid"/>
          </a:ln>
        </p:spPr>
      </p:sp>
      <p:sp>
        <p:nvSpPr>
          <p:cNvPr id="18" name="">
            <a:extLst xmlns:a="http://schemas.openxmlformats.org/drawingml/2006/main">
              <a:ext uri="{FF2B5EF4-FFF2-40B4-BE49-F238E27FC236}">
                <a16:creationId xmlns:a16="http://schemas.microsoft.com/office/drawing/2014/main" id="{950F38CB-F629-4E19-961C-F3E2D107A21F}"/>
              </a:ext>
            </a:extLst>
          </p:cNvPr>
          <p:cNvSpPr>
            <a:spLocks xmlns:a="http://schemas.openxmlformats.org/drawingml/2006/main" noGrp="1"/>
          </p:cNvSpPr>
          <p:nvPr/>
        </p:nvSpPr>
        <p:spPr>
          <a:xfrm xmlns:a="http://schemas.openxmlformats.org/drawingml/2006/main">
            <a:off x="4895850" y="3276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Processing can be cheaper or faster</a:t>
            </a:r>
          </a:p>
        </p:txBody>
      </p:sp>
      <p:sp>
        <p:nvSpPr>
          <p:cNvPr id="19" name="">
            <a:extLst xmlns:a="http://schemas.openxmlformats.org/drawingml/2006/main">
              <a:ext uri="{FF2B5EF4-FFF2-40B4-BE49-F238E27FC236}">
                <a16:creationId xmlns:a16="http://schemas.microsoft.com/office/drawing/2014/main" id="{D0828F0C-AB71-4C7B-AFAF-8FD3BA252CBB}"/>
              </a:ext>
            </a:extLst>
          </p:cNvPr>
          <p:cNvSpPr>
            <a:spLocks xmlns:a="http://schemas.openxmlformats.org/drawingml/2006/main" noGrp="1"/>
          </p:cNvSpPr>
          <p:nvPr/>
        </p:nvSpPr>
        <p:spPr>
          <a:xfrm xmlns:a="http://schemas.openxmlformats.org/drawingml/2006/main">
            <a:off x="4724400" y="375285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B9D4F6"/>
            </a:solidFill>
            <a:prstDash val="solid"/>
          </a:ln>
        </p:spPr>
      </p:sp>
      <p:sp>
        <p:nvSpPr>
          <p:cNvPr id="20" name="">
            <a:extLst xmlns:a="http://schemas.openxmlformats.org/drawingml/2006/main">
              <a:ext uri="{FF2B5EF4-FFF2-40B4-BE49-F238E27FC236}">
                <a16:creationId xmlns:a16="http://schemas.microsoft.com/office/drawing/2014/main" id="{B86AEB2E-EDEB-4B61-9309-88DC61A76274}"/>
              </a:ext>
            </a:extLst>
          </p:cNvPr>
          <p:cNvSpPr>
            <a:spLocks xmlns:a="http://schemas.openxmlformats.org/drawingml/2006/main" noGrp="1"/>
          </p:cNvSpPr>
          <p:nvPr/>
        </p:nvSpPr>
        <p:spPr>
          <a:xfrm xmlns:a="http://schemas.openxmlformats.org/drawingml/2006/main">
            <a:off x="4895850" y="3867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138A43"/>
                </a:solidFill>
              </a:defRPr>
            </a:pPr>
            <a:r>
              <a:rPr sz="1200" b="0" i="0">
                <a:solidFill>
                  <a:srgbClr val="138A43"/>
                </a:solidFill>
              </a:rPr>
              <a:t>Usage may show cache read/write</a:t>
            </a:r>
          </a:p>
        </p:txBody>
      </p:sp>
      <p:sp>
        <p:nvSpPr>
          <p:cNvPr id="21" name="">
            <a:extLst xmlns:a="http://schemas.openxmlformats.org/drawingml/2006/main">
              <a:ext uri="{FF2B5EF4-FFF2-40B4-BE49-F238E27FC236}">
                <a16:creationId xmlns:a16="http://schemas.microsoft.com/office/drawing/2014/main" id="{AFDEDABD-90AD-48C8-8296-1F44D3BED183}"/>
              </a:ext>
            </a:extLst>
          </p:cNvPr>
          <p:cNvSpPr>
            <a:spLocks xmlns:a="http://schemas.openxmlformats.org/drawingml/2006/main" noGrp="1"/>
          </p:cNvSpPr>
          <p:nvPr/>
        </p:nvSpPr>
        <p:spPr>
          <a:xfrm xmlns:a="http://schemas.openxmlformats.org/drawingml/2006/main">
            <a:off x="8267700" y="1790700"/>
            <a:ext cx="3314700" cy="2952750"/>
          </a:xfrm>
          <a:prstGeom xmlns:a="http://schemas.openxmlformats.org/drawingml/2006/main" prst="roundRect">
            <a:avLst>
              <a:gd name="adj" fmla="val 2581"/>
            </a:avLst>
          </a:prstGeom>
          <a:solidFill xmlns:a="http://schemas.openxmlformats.org/drawingml/2006/main">
            <a:srgbClr val="FFF7DF"/>
          </a:solidFill>
          <a:ln xmlns:a="http://schemas.openxmlformats.org/drawingml/2006/main" w="10478">
            <a:solidFill>
              <a:srgbClr val="F0D891"/>
            </a:solidFill>
            <a:prstDash val="solid"/>
          </a:ln>
        </p:spPr>
      </p:sp>
      <p:sp>
        <p:nvSpPr>
          <p:cNvPr id="22" name="">
            <a:extLst xmlns:a="http://schemas.openxmlformats.org/drawingml/2006/main">
              <a:ext uri="{FF2B5EF4-FFF2-40B4-BE49-F238E27FC236}">
                <a16:creationId xmlns:a16="http://schemas.microsoft.com/office/drawing/2014/main" id="{E1E47D92-81E9-4873-95BB-66D65E9345F7}"/>
              </a:ext>
            </a:extLst>
          </p:cNvPr>
          <p:cNvSpPr>
            <a:spLocks xmlns:a="http://schemas.openxmlformats.org/drawingml/2006/main" noGrp="1"/>
          </p:cNvSpPr>
          <p:nvPr/>
        </p:nvSpPr>
        <p:spPr>
          <a:xfrm xmlns:a="http://schemas.openxmlformats.org/drawingml/2006/main">
            <a:off x="8534400" y="20574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4AAD"/>
                </a:solidFill>
              </a:defRPr>
            </a:pPr>
            <a:r>
              <a:rPr sz="2100" b="1" i="0">
                <a:solidFill>
                  <a:srgbClr val="004AAD"/>
                </a:solidFill>
              </a:rPr>
              <a:t>What cache is not</a:t>
            </a:r>
          </a:p>
        </p:txBody>
      </p:sp>
      <p:sp>
        <p:nvSpPr>
          <p:cNvPr id="23" name="">
            <a:extLst xmlns:a="http://schemas.openxmlformats.org/drawingml/2006/main">
              <a:ext uri="{FF2B5EF4-FFF2-40B4-BE49-F238E27FC236}">
                <a16:creationId xmlns:a16="http://schemas.microsoft.com/office/drawing/2014/main" id="{A5C54766-656B-452B-A60A-0C249E6C158D}"/>
              </a:ext>
            </a:extLst>
          </p:cNvPr>
          <p:cNvSpPr>
            <a:spLocks xmlns:a="http://schemas.openxmlformats.org/drawingml/2006/main" noGrp="1"/>
          </p:cNvSpPr>
          <p:nvPr/>
        </p:nvSpPr>
        <p:spPr>
          <a:xfrm xmlns:a="http://schemas.openxmlformats.org/drawingml/2006/main">
            <a:off x="8553450" y="257175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F0D891"/>
            </a:solidFill>
            <a:prstDash val="solid"/>
          </a:ln>
        </p:spPr>
      </p:sp>
      <p:sp>
        <p:nvSpPr>
          <p:cNvPr id="24" name="">
            <a:extLst xmlns:a="http://schemas.openxmlformats.org/drawingml/2006/main">
              <a:ext uri="{FF2B5EF4-FFF2-40B4-BE49-F238E27FC236}">
                <a16:creationId xmlns:a16="http://schemas.microsoft.com/office/drawing/2014/main" id="{A76E7E6E-F396-417C-BB37-6B7034A5F27E}"/>
              </a:ext>
            </a:extLst>
          </p:cNvPr>
          <p:cNvSpPr>
            <a:spLocks xmlns:a="http://schemas.openxmlformats.org/drawingml/2006/main" noGrp="1"/>
          </p:cNvSpPr>
          <p:nvPr/>
        </p:nvSpPr>
        <p:spPr>
          <a:xfrm xmlns:a="http://schemas.openxmlformats.org/drawingml/2006/main">
            <a:off x="8724900" y="26860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CC2B2B"/>
                </a:solidFill>
              </a:defRPr>
            </a:pPr>
            <a:r>
              <a:rPr sz="1200" b="1" i="0">
                <a:solidFill>
                  <a:srgbClr val="CC2B2B"/>
                </a:solidFill>
              </a:rPr>
              <a:t>Not memory</a:t>
            </a:r>
          </a:p>
        </p:txBody>
      </p:sp>
      <p:sp>
        <p:nvSpPr>
          <p:cNvPr id="25" name="">
            <a:extLst xmlns:a="http://schemas.openxmlformats.org/drawingml/2006/main">
              <a:ext uri="{FF2B5EF4-FFF2-40B4-BE49-F238E27FC236}">
                <a16:creationId xmlns:a16="http://schemas.microsoft.com/office/drawing/2014/main" id="{38DB9B7E-FE16-40AE-BBB0-C5FED6961BE3}"/>
              </a:ext>
            </a:extLst>
          </p:cNvPr>
          <p:cNvSpPr>
            <a:spLocks xmlns:a="http://schemas.openxmlformats.org/drawingml/2006/main" noGrp="1"/>
          </p:cNvSpPr>
          <p:nvPr/>
        </p:nvSpPr>
        <p:spPr>
          <a:xfrm xmlns:a="http://schemas.openxmlformats.org/drawingml/2006/main">
            <a:off x="8553450" y="316230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F0D891"/>
            </a:solidFill>
            <a:prstDash val="solid"/>
          </a:ln>
        </p:spPr>
      </p:sp>
      <p:sp>
        <p:nvSpPr>
          <p:cNvPr id="26" name="">
            <a:extLst xmlns:a="http://schemas.openxmlformats.org/drawingml/2006/main">
              <a:ext uri="{FF2B5EF4-FFF2-40B4-BE49-F238E27FC236}">
                <a16:creationId xmlns:a16="http://schemas.microsoft.com/office/drawing/2014/main" id="{E0493898-4722-4E66-B8BB-9123EBAA9A12}"/>
              </a:ext>
            </a:extLst>
          </p:cNvPr>
          <p:cNvSpPr>
            <a:spLocks xmlns:a="http://schemas.openxmlformats.org/drawingml/2006/main" noGrp="1"/>
          </p:cNvSpPr>
          <p:nvPr/>
        </p:nvSpPr>
        <p:spPr>
          <a:xfrm xmlns:a="http://schemas.openxmlformats.org/drawingml/2006/main">
            <a:off x="8724900" y="3276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CC2B2B"/>
                </a:solidFill>
              </a:defRPr>
            </a:pPr>
            <a:r>
              <a:rPr sz="1200" b="1" i="0">
                <a:solidFill>
                  <a:srgbClr val="CC2B2B"/>
                </a:solidFill>
              </a:rPr>
              <a:t>Not retrieval</a:t>
            </a:r>
          </a:p>
        </p:txBody>
      </p:sp>
      <p:sp>
        <p:nvSpPr>
          <p:cNvPr id="27" name="">
            <a:extLst xmlns:a="http://schemas.openxmlformats.org/drawingml/2006/main">
              <a:ext uri="{FF2B5EF4-FFF2-40B4-BE49-F238E27FC236}">
                <a16:creationId xmlns:a16="http://schemas.microsoft.com/office/drawing/2014/main" id="{7BF12064-1469-43CE-8838-76B86165CE07}"/>
              </a:ext>
            </a:extLst>
          </p:cNvPr>
          <p:cNvSpPr>
            <a:spLocks xmlns:a="http://schemas.openxmlformats.org/drawingml/2006/main" noGrp="1"/>
          </p:cNvSpPr>
          <p:nvPr/>
        </p:nvSpPr>
        <p:spPr>
          <a:xfrm xmlns:a="http://schemas.openxmlformats.org/drawingml/2006/main">
            <a:off x="8553450" y="3752850"/>
            <a:ext cx="27241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0478">
            <a:solidFill>
              <a:srgbClr val="F0D891"/>
            </a:solidFill>
            <a:prstDash val="solid"/>
          </a:ln>
        </p:spPr>
      </p:sp>
      <p:sp>
        <p:nvSpPr>
          <p:cNvPr id="28" name="">
            <a:extLst xmlns:a="http://schemas.openxmlformats.org/drawingml/2006/main">
              <a:ext uri="{FF2B5EF4-FFF2-40B4-BE49-F238E27FC236}">
                <a16:creationId xmlns:a16="http://schemas.microsoft.com/office/drawing/2014/main" id="{B61B4993-B009-4B6A-8415-55A0533612DC}"/>
              </a:ext>
            </a:extLst>
          </p:cNvPr>
          <p:cNvSpPr>
            <a:spLocks xmlns:a="http://schemas.openxmlformats.org/drawingml/2006/main" noGrp="1"/>
          </p:cNvSpPr>
          <p:nvPr/>
        </p:nvSpPr>
        <p:spPr>
          <a:xfrm xmlns:a="http://schemas.openxmlformats.org/drawingml/2006/main">
            <a:off x="8724900" y="3867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CC2B2B"/>
                </a:solidFill>
              </a:defRPr>
            </a:pPr>
            <a:r>
              <a:rPr sz="1200" b="1" i="0">
                <a:solidFill>
                  <a:srgbClr val="CC2B2B"/>
                </a:solidFill>
              </a:rPr>
              <a:t>Not a larger context window</a:t>
            </a:r>
          </a:p>
        </p:txBody>
      </p:sp>
      <p:sp>
        <p:nvSpPr>
          <p:cNvPr id="29" name="">
            <a:extLst xmlns:a="http://schemas.openxmlformats.org/drawingml/2006/main">
              <a:ext uri="{FF2B5EF4-FFF2-40B4-BE49-F238E27FC236}">
                <a16:creationId xmlns:a16="http://schemas.microsoft.com/office/drawing/2014/main" id="{EF1065C7-2100-40B8-A1AA-0650A00E3BB2}"/>
              </a:ext>
            </a:extLst>
          </p:cNvPr>
          <p:cNvSpPr>
            <a:spLocks xmlns:a="http://schemas.openxmlformats.org/drawingml/2006/main" noGrp="1"/>
          </p:cNvSpPr>
          <p:nvPr/>
        </p:nvSpPr>
        <p:spPr>
          <a:xfrm xmlns:a="http://schemas.openxmlformats.org/drawingml/2006/main">
            <a:off x="1524000" y="5257800"/>
            <a:ext cx="914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0478">
            <a:solidFill>
              <a:srgbClr val="004AAD"/>
            </a:solidFill>
            <a:prstDash val="solid"/>
          </a:ln>
        </p:spPr>
      </p:sp>
      <p:sp>
        <p:nvSpPr>
          <p:cNvPr id="30" name="">
            <a:extLst xmlns:a="http://schemas.openxmlformats.org/drawingml/2006/main">
              <a:ext uri="{FF2B5EF4-FFF2-40B4-BE49-F238E27FC236}">
                <a16:creationId xmlns:a16="http://schemas.microsoft.com/office/drawing/2014/main" id="{406DD939-8CF9-4739-AA50-03CD84A959E4}"/>
              </a:ext>
            </a:extLst>
          </p:cNvPr>
          <p:cNvSpPr>
            <a:spLocks xmlns:a="http://schemas.openxmlformats.org/drawingml/2006/main" noGrp="1"/>
          </p:cNvSpPr>
          <p:nvPr/>
        </p:nvSpPr>
        <p:spPr>
          <a:xfrm xmlns:a="http://schemas.openxmlformats.org/drawingml/2006/main">
            <a:off x="1847850" y="54864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04AAD"/>
                </a:solidFill>
              </a:defRPr>
            </a:pPr>
            <a:r>
              <a:rPr sz="1800" b="1" i="0">
                <a:solidFill>
                  <a:srgbClr val="004AAD"/>
                </a:solidFill>
              </a:rPr>
              <a:t>Paper Model</a:t>
            </a:r>
          </a:p>
        </p:txBody>
      </p:sp>
      <p:sp>
        <p:nvSpPr>
          <p:cNvPr id="31" name="">
            <a:extLst xmlns:a="http://schemas.openxmlformats.org/drawingml/2006/main">
              <a:ext uri="{FF2B5EF4-FFF2-40B4-BE49-F238E27FC236}">
                <a16:creationId xmlns:a16="http://schemas.microsoft.com/office/drawing/2014/main" id="{31F42A57-1DBE-4798-9E0E-4AE24076666C}"/>
              </a:ext>
            </a:extLst>
          </p:cNvPr>
          <p:cNvSpPr>
            <a:spLocks xmlns:a="http://schemas.openxmlformats.org/drawingml/2006/main" noGrp="1"/>
          </p:cNvSpPr>
          <p:nvPr/>
        </p:nvSpPr>
        <p:spPr>
          <a:xfrm xmlns:a="http://schemas.openxmlformats.org/drawingml/2006/main">
            <a:off x="4095750" y="54864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61A45"/>
                </a:solidFill>
              </a:defRPr>
            </a:pPr>
            <a:r>
              <a:rPr sz="1575" b="0" i="0">
                <a:solidFill>
                  <a:srgbClr val="061A45"/>
                </a:solidFill>
              </a:rPr>
              <a:t>The paper is still complete. Cache only changes how repeated parts are processed.</a:t>
            </a:r>
          </a:p>
        </p:txBody>
      </p:sp>
    </p:spTree>
    <p:extLst>
      <p:ext uri="{BB962C8B-B14F-4D97-AF65-F5344CB8AC3E}">
        <p14:creationId xmlns:p14="http://schemas.microsoft.com/office/powerpoint/2010/main" val="11691009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E7B073-F848-4CD9-A5F7-A8629561B9C5}"/>
              </a:ext>
            </a:extLst>
          </p:cNvPr>
          <p:cNvSpPr>
            <a:spLocks xmlns:a="http://schemas.openxmlformats.org/drawingml/2006/main" noGrp="1"/>
          </p:cNvSpPr>
          <p:nvPr/>
        </p:nvSpPr>
        <p:spPr>
          <a:xfrm xmlns:a="http://schemas.openxmlformats.org/drawingml/2006/main">
            <a:off x="457200" y="266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Every Round Gets the Complete Visible Paper</a:t>
            </a:r>
          </a:p>
        </p:txBody>
      </p:sp>
      <p:sp>
        <p:nvSpPr>
          <p:cNvPr id="2" name="">
            <a:extLst xmlns:a="http://schemas.openxmlformats.org/drawingml/2006/main">
              <a:ext uri="{FF2B5EF4-FFF2-40B4-BE49-F238E27FC236}">
                <a16:creationId xmlns:a16="http://schemas.microsoft.com/office/drawing/2014/main" id="{2528D8EF-C537-447B-845F-06A76CBED7BF}"/>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A new turn does not replace the paper; it is added to the paper for this call.</a:t>
            </a:r>
          </a:p>
        </p:txBody>
      </p:sp>
      <p:sp>
        <p:nvSpPr>
          <p:cNvPr id="3" name="">
            <a:extLst xmlns:a="http://schemas.openxmlformats.org/drawingml/2006/main">
              <a:ext uri="{FF2B5EF4-FFF2-40B4-BE49-F238E27FC236}">
                <a16:creationId xmlns:a16="http://schemas.microsoft.com/office/drawing/2014/main" id="{B07B4080-0767-4CA5-BE72-2F55E6441B4C}"/>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7C9867A8-0914-46E5-BA9C-9D3BFE98D6D9}"/>
              </a:ext>
            </a:extLst>
          </p:cNvPr>
          <p:cNvSpPr>
            <a:spLocks xmlns:a="http://schemas.openxmlformats.org/drawingml/2006/main" noGrp="1"/>
          </p:cNvSpPr>
          <p:nvPr/>
        </p:nvSpPr>
        <p:spPr>
          <a:xfrm xmlns:a="http://schemas.openxmlformats.org/drawingml/2006/main">
            <a:off x="723900" y="1695450"/>
            <a:ext cx="2571750" cy="31432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3BCB8D9-DB85-47B5-92E0-C303F5350492}"/>
              </a:ext>
            </a:extLst>
          </p:cNvPr>
          <p:cNvSpPr>
            <a:spLocks xmlns:a="http://schemas.openxmlformats.org/drawingml/2006/main" noGrp="1"/>
          </p:cNvSpPr>
          <p:nvPr/>
        </p:nvSpPr>
        <p:spPr>
          <a:xfrm xmlns:a="http://schemas.openxmlformats.org/drawingml/2006/main">
            <a:off x="876300" y="18097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4AAD"/>
                </a:solidFill>
              </a:defRPr>
            </a:pPr>
            <a:r>
              <a:rPr sz="1275" b="1" i="0">
                <a:solidFill>
                  <a:srgbClr val="004AAD"/>
                </a:solidFill>
              </a:rPr>
              <a:t>Round 1 call</a:t>
            </a:r>
          </a:p>
        </p:txBody>
      </p:sp>
      <p:sp>
        <p:nvSpPr>
          <p:cNvPr id="6" name="">
            <a:extLst xmlns:a="http://schemas.openxmlformats.org/drawingml/2006/main">
              <a:ext uri="{FF2B5EF4-FFF2-40B4-BE49-F238E27FC236}">
                <a16:creationId xmlns:a16="http://schemas.microsoft.com/office/drawing/2014/main" id="{AC99F8A1-1648-48DE-B100-1F9EC18016CE}"/>
              </a:ext>
            </a:extLst>
          </p:cNvPr>
          <p:cNvSpPr>
            <a:spLocks xmlns:a="http://schemas.openxmlformats.org/drawingml/2006/main" noGrp="1"/>
          </p:cNvSpPr>
          <p:nvPr/>
        </p:nvSpPr>
        <p:spPr>
          <a:xfrm xmlns:a="http://schemas.openxmlformats.org/drawingml/2006/main">
            <a:off x="895350" y="2152650"/>
            <a:ext cx="2228850" cy="561975"/>
          </a:xfrm>
          <a:prstGeom xmlns:a="http://schemas.openxmlformats.org/drawingml/2006/main" prst="roundRect">
            <a:avLst>
              <a:gd name="adj" fmla="val 10169"/>
            </a:avLst>
          </a:prstGeom>
          <a:solidFill xmlns:a="http://schemas.openxmlformats.org/drawingml/2006/main">
            <a:srgbClr val="E8F1FF"/>
          </a:solidFill>
          <a:ln xmlns:a="http://schemas.openxmlformats.org/drawingml/2006/main" w="10478">
            <a:solidFill>
              <a:srgbClr val="D7E6FB"/>
            </a:solidFill>
            <a:prstDash val="solid"/>
          </a:ln>
        </p:spPr>
      </p:sp>
      <p:sp>
        <p:nvSpPr>
          <p:cNvPr id="7" name="">
            <a:extLst xmlns:a="http://schemas.openxmlformats.org/drawingml/2006/main">
              <a:ext uri="{FF2B5EF4-FFF2-40B4-BE49-F238E27FC236}">
                <a16:creationId xmlns:a16="http://schemas.microsoft.com/office/drawing/2014/main" id="{1F49B7FC-A553-470C-8B98-0B433E77644E}"/>
              </a:ext>
            </a:extLst>
          </p:cNvPr>
          <p:cNvSpPr>
            <a:spLocks xmlns:a="http://schemas.openxmlformats.org/drawingml/2006/main" noGrp="1"/>
          </p:cNvSpPr>
          <p:nvPr/>
        </p:nvSpPr>
        <p:spPr>
          <a:xfrm xmlns:a="http://schemas.openxmlformats.org/drawingml/2006/main">
            <a:off x="1009650" y="2238375"/>
            <a:ext cx="200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System rules</a:t>
            </a:r>
          </a:p>
        </p:txBody>
      </p:sp>
      <p:sp>
        <p:nvSpPr>
          <p:cNvPr id="8" name="">
            <a:extLst xmlns:a="http://schemas.openxmlformats.org/drawingml/2006/main">
              <a:ext uri="{FF2B5EF4-FFF2-40B4-BE49-F238E27FC236}">
                <a16:creationId xmlns:a16="http://schemas.microsoft.com/office/drawing/2014/main" id="{71D59FBB-653A-43A3-B7B8-9168B8CE04EA}"/>
              </a:ext>
            </a:extLst>
          </p:cNvPr>
          <p:cNvSpPr>
            <a:spLocks xmlns:a="http://schemas.openxmlformats.org/drawingml/2006/main" noGrp="1"/>
          </p:cNvSpPr>
          <p:nvPr/>
        </p:nvSpPr>
        <p:spPr>
          <a:xfrm xmlns:a="http://schemas.openxmlformats.org/drawingml/2006/main">
            <a:off x="895350" y="2790825"/>
            <a:ext cx="2228850" cy="561975"/>
          </a:xfrm>
          <a:prstGeom xmlns:a="http://schemas.openxmlformats.org/drawingml/2006/main" prst="roundRect">
            <a:avLst>
              <a:gd name="adj" fmla="val 10169"/>
            </a:avLst>
          </a:prstGeom>
          <a:solidFill xmlns:a="http://schemas.openxmlformats.org/drawingml/2006/main">
            <a:srgbClr val="EEFAF2"/>
          </a:solidFill>
          <a:ln xmlns:a="http://schemas.openxmlformats.org/drawingml/2006/main" w="10478">
            <a:solidFill>
              <a:srgbClr val="D7E6FB"/>
            </a:solidFill>
            <a:prstDash val="solid"/>
          </a:ln>
        </p:spPr>
      </p:sp>
      <p:sp>
        <p:nvSpPr>
          <p:cNvPr id="9" name="">
            <a:extLst xmlns:a="http://schemas.openxmlformats.org/drawingml/2006/main">
              <a:ext uri="{FF2B5EF4-FFF2-40B4-BE49-F238E27FC236}">
                <a16:creationId xmlns:a16="http://schemas.microsoft.com/office/drawing/2014/main" id="{B71148A1-BA77-43A4-968A-119E06E585EB}"/>
              </a:ext>
            </a:extLst>
          </p:cNvPr>
          <p:cNvSpPr>
            <a:spLocks xmlns:a="http://schemas.openxmlformats.org/drawingml/2006/main" noGrp="1"/>
          </p:cNvSpPr>
          <p:nvPr/>
        </p:nvSpPr>
        <p:spPr>
          <a:xfrm xmlns:a="http://schemas.openxmlformats.org/drawingml/2006/main">
            <a:off x="1009650" y="2876550"/>
            <a:ext cx="200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Conversation history</a:t>
            </a:r>
          </a:p>
        </p:txBody>
      </p:sp>
      <p:sp>
        <p:nvSpPr>
          <p:cNvPr id="10" name="">
            <a:extLst xmlns:a="http://schemas.openxmlformats.org/drawingml/2006/main">
              <a:ext uri="{FF2B5EF4-FFF2-40B4-BE49-F238E27FC236}">
                <a16:creationId xmlns:a16="http://schemas.microsoft.com/office/drawing/2014/main" id="{21818168-AC40-42B8-93DA-EBD727C35157}"/>
              </a:ext>
            </a:extLst>
          </p:cNvPr>
          <p:cNvSpPr>
            <a:spLocks xmlns:a="http://schemas.openxmlformats.org/drawingml/2006/main" noGrp="1"/>
          </p:cNvSpPr>
          <p:nvPr/>
        </p:nvSpPr>
        <p:spPr>
          <a:xfrm xmlns:a="http://schemas.openxmlformats.org/drawingml/2006/main">
            <a:off x="895350" y="3429000"/>
            <a:ext cx="2228850" cy="561975"/>
          </a:xfrm>
          <a:prstGeom xmlns:a="http://schemas.openxmlformats.org/drawingml/2006/main" prst="roundRect">
            <a:avLst>
              <a:gd name="adj" fmla="val 10169"/>
            </a:avLst>
          </a:prstGeom>
          <a:solidFill xmlns:a="http://schemas.openxmlformats.org/drawingml/2006/main">
            <a:srgbClr val="FFF7DF"/>
          </a:solidFill>
          <a:ln xmlns:a="http://schemas.openxmlformats.org/drawingml/2006/main" w="10478">
            <a:solidFill>
              <a:srgbClr val="D7E6FB"/>
            </a:solidFill>
            <a:prstDash val="solid"/>
          </a:ln>
        </p:spPr>
      </p:sp>
      <p:sp>
        <p:nvSpPr>
          <p:cNvPr id="11" name="">
            <a:extLst xmlns:a="http://schemas.openxmlformats.org/drawingml/2006/main">
              <a:ext uri="{FF2B5EF4-FFF2-40B4-BE49-F238E27FC236}">
                <a16:creationId xmlns:a16="http://schemas.microsoft.com/office/drawing/2014/main" id="{D4D28698-F570-4ACE-B6CF-455A5BD2C388}"/>
              </a:ext>
            </a:extLst>
          </p:cNvPr>
          <p:cNvSpPr>
            <a:spLocks xmlns:a="http://schemas.openxmlformats.org/drawingml/2006/main" noGrp="1"/>
          </p:cNvSpPr>
          <p:nvPr/>
        </p:nvSpPr>
        <p:spPr>
          <a:xfrm xmlns:a="http://schemas.openxmlformats.org/drawingml/2006/main">
            <a:off x="1009650" y="3514725"/>
            <a:ext cx="200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Files / tool results</a:t>
            </a:r>
          </a:p>
        </p:txBody>
      </p:sp>
      <p:sp>
        <p:nvSpPr>
          <p:cNvPr id="12" name="">
            <a:extLst xmlns:a="http://schemas.openxmlformats.org/drawingml/2006/main">
              <a:ext uri="{FF2B5EF4-FFF2-40B4-BE49-F238E27FC236}">
                <a16:creationId xmlns:a16="http://schemas.microsoft.com/office/drawing/2014/main" id="{2D97C118-F031-4A7E-84ED-7F6BAC4118C3}"/>
              </a:ext>
            </a:extLst>
          </p:cNvPr>
          <p:cNvSpPr>
            <a:spLocks xmlns:a="http://schemas.openxmlformats.org/drawingml/2006/main" noGrp="1"/>
          </p:cNvSpPr>
          <p:nvPr/>
        </p:nvSpPr>
        <p:spPr>
          <a:xfrm xmlns:a="http://schemas.openxmlformats.org/drawingml/2006/main">
            <a:off x="895350" y="4067175"/>
            <a:ext cx="2228850" cy="561975"/>
          </a:xfrm>
          <a:prstGeom xmlns:a="http://schemas.openxmlformats.org/drawingml/2006/main" prst="roundRect">
            <a:avLst>
              <a:gd name="adj" fmla="val 10169"/>
            </a:avLst>
          </a:prstGeom>
          <a:solidFill xmlns:a="http://schemas.openxmlformats.org/drawingml/2006/main">
            <a:srgbClr val="F3EDFF"/>
          </a:solidFill>
          <a:ln xmlns:a="http://schemas.openxmlformats.org/drawingml/2006/main" w="10478">
            <a:solidFill>
              <a:srgbClr val="D7E6FB"/>
            </a:solidFill>
            <a:prstDash val="solid"/>
          </a:ln>
        </p:spPr>
      </p:sp>
      <p:sp>
        <p:nvSpPr>
          <p:cNvPr id="13" name="">
            <a:extLst xmlns:a="http://schemas.openxmlformats.org/drawingml/2006/main">
              <a:ext uri="{FF2B5EF4-FFF2-40B4-BE49-F238E27FC236}">
                <a16:creationId xmlns:a16="http://schemas.microsoft.com/office/drawing/2014/main" id="{2FD7FBEA-1751-4DB5-B4E7-6EC87887A017}"/>
              </a:ext>
            </a:extLst>
          </p:cNvPr>
          <p:cNvSpPr>
            <a:spLocks xmlns:a="http://schemas.openxmlformats.org/drawingml/2006/main" noGrp="1"/>
          </p:cNvSpPr>
          <p:nvPr/>
        </p:nvSpPr>
        <p:spPr>
          <a:xfrm xmlns:a="http://schemas.openxmlformats.org/drawingml/2006/main">
            <a:off x="1009650" y="4152900"/>
            <a:ext cx="200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Current message</a:t>
            </a:r>
          </a:p>
        </p:txBody>
      </p:sp>
      <p:sp>
        <p:nvSpPr>
          <p:cNvPr id="14" name="">
            <a:extLst xmlns:a="http://schemas.openxmlformats.org/drawingml/2006/main">
              <a:ext uri="{FF2B5EF4-FFF2-40B4-BE49-F238E27FC236}">
                <a16:creationId xmlns:a16="http://schemas.microsoft.com/office/drawing/2014/main" id="{014C4F26-64C3-4EFC-8AD9-7773987A4EC1}"/>
              </a:ext>
            </a:extLst>
          </p:cNvPr>
          <p:cNvSpPr>
            <a:spLocks xmlns:a="http://schemas.openxmlformats.org/drawingml/2006/main" noGrp="1"/>
          </p:cNvSpPr>
          <p:nvPr/>
        </p:nvSpPr>
        <p:spPr>
          <a:xfrm xmlns:a="http://schemas.openxmlformats.org/drawingml/2006/main">
            <a:off x="4819650" y="1695450"/>
            <a:ext cx="2571750" cy="31432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289D9E3-E931-424C-A6EF-4AB5CFF1DCD1}"/>
              </a:ext>
            </a:extLst>
          </p:cNvPr>
          <p:cNvSpPr>
            <a:spLocks xmlns:a="http://schemas.openxmlformats.org/drawingml/2006/main" noGrp="1"/>
          </p:cNvSpPr>
          <p:nvPr/>
        </p:nvSpPr>
        <p:spPr>
          <a:xfrm xmlns:a="http://schemas.openxmlformats.org/drawingml/2006/main">
            <a:off x="4972050" y="18097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4AAD"/>
                </a:solidFill>
              </a:defRPr>
            </a:pPr>
            <a:r>
              <a:rPr sz="1275" b="1" i="0">
                <a:solidFill>
                  <a:srgbClr val="004AAD"/>
                </a:solidFill>
              </a:rPr>
              <a:t>Round 2 call</a:t>
            </a:r>
          </a:p>
        </p:txBody>
      </p:sp>
      <p:sp>
        <p:nvSpPr>
          <p:cNvPr id="16" name="">
            <a:extLst xmlns:a="http://schemas.openxmlformats.org/drawingml/2006/main">
              <a:ext uri="{FF2B5EF4-FFF2-40B4-BE49-F238E27FC236}">
                <a16:creationId xmlns:a16="http://schemas.microsoft.com/office/drawing/2014/main" id="{3A8EB510-6609-4B6B-BEF4-B1D21D266F35}"/>
              </a:ext>
            </a:extLst>
          </p:cNvPr>
          <p:cNvSpPr>
            <a:spLocks xmlns:a="http://schemas.openxmlformats.org/drawingml/2006/main" noGrp="1"/>
          </p:cNvSpPr>
          <p:nvPr/>
        </p:nvSpPr>
        <p:spPr>
          <a:xfrm xmlns:a="http://schemas.openxmlformats.org/drawingml/2006/main">
            <a:off x="4991100" y="2152650"/>
            <a:ext cx="2228850" cy="434340"/>
          </a:xfrm>
          <a:prstGeom xmlns:a="http://schemas.openxmlformats.org/drawingml/2006/main" prst="roundRect">
            <a:avLst>
              <a:gd name="adj" fmla="val 13158"/>
            </a:avLst>
          </a:prstGeom>
          <a:solidFill xmlns:a="http://schemas.openxmlformats.org/drawingml/2006/main">
            <a:srgbClr val="E8F1FF"/>
          </a:solidFill>
          <a:ln xmlns:a="http://schemas.openxmlformats.org/drawingml/2006/main" w="10478">
            <a:solidFill>
              <a:srgbClr val="D7E6FB"/>
            </a:solidFill>
            <a:prstDash val="solid"/>
          </a:ln>
        </p:spPr>
      </p:sp>
      <p:sp>
        <p:nvSpPr>
          <p:cNvPr id="17" name="">
            <a:extLst xmlns:a="http://schemas.openxmlformats.org/drawingml/2006/main">
              <a:ext uri="{FF2B5EF4-FFF2-40B4-BE49-F238E27FC236}">
                <a16:creationId xmlns:a16="http://schemas.microsoft.com/office/drawing/2014/main" id="{A58BC964-3F25-4C72-9F69-F206FED22F78}"/>
              </a:ext>
            </a:extLst>
          </p:cNvPr>
          <p:cNvSpPr>
            <a:spLocks xmlns:a="http://schemas.openxmlformats.org/drawingml/2006/main" noGrp="1"/>
          </p:cNvSpPr>
          <p:nvPr/>
        </p:nvSpPr>
        <p:spPr>
          <a:xfrm xmlns:a="http://schemas.openxmlformats.org/drawingml/2006/main">
            <a:off x="5105400" y="223837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System rules</a:t>
            </a:r>
          </a:p>
        </p:txBody>
      </p:sp>
      <p:sp>
        <p:nvSpPr>
          <p:cNvPr id="18" name="">
            <a:extLst xmlns:a="http://schemas.openxmlformats.org/drawingml/2006/main">
              <a:ext uri="{FF2B5EF4-FFF2-40B4-BE49-F238E27FC236}">
                <a16:creationId xmlns:a16="http://schemas.microsoft.com/office/drawing/2014/main" id="{09D403B6-D59C-448F-B43B-4F7021579593}"/>
              </a:ext>
            </a:extLst>
          </p:cNvPr>
          <p:cNvSpPr>
            <a:spLocks xmlns:a="http://schemas.openxmlformats.org/drawingml/2006/main" noGrp="1"/>
          </p:cNvSpPr>
          <p:nvPr/>
        </p:nvSpPr>
        <p:spPr>
          <a:xfrm xmlns:a="http://schemas.openxmlformats.org/drawingml/2006/main">
            <a:off x="4991100" y="2663190"/>
            <a:ext cx="2228850" cy="434340"/>
          </a:xfrm>
          <a:prstGeom xmlns:a="http://schemas.openxmlformats.org/drawingml/2006/main" prst="roundRect">
            <a:avLst>
              <a:gd name="adj" fmla="val 13158"/>
            </a:avLst>
          </a:prstGeom>
          <a:solidFill xmlns:a="http://schemas.openxmlformats.org/drawingml/2006/main">
            <a:srgbClr val="EEFAF2"/>
          </a:solidFill>
          <a:ln xmlns:a="http://schemas.openxmlformats.org/drawingml/2006/main" w="10478">
            <a:solidFill>
              <a:srgbClr val="D7E6FB"/>
            </a:solidFill>
            <a:prstDash val="solid"/>
          </a:ln>
        </p:spPr>
      </p:sp>
      <p:sp>
        <p:nvSpPr>
          <p:cNvPr id="19" name="">
            <a:extLst xmlns:a="http://schemas.openxmlformats.org/drawingml/2006/main">
              <a:ext uri="{FF2B5EF4-FFF2-40B4-BE49-F238E27FC236}">
                <a16:creationId xmlns:a16="http://schemas.microsoft.com/office/drawing/2014/main" id="{B7983AD9-0559-4A3F-B9EE-AA19F9E0368D}"/>
              </a:ext>
            </a:extLst>
          </p:cNvPr>
          <p:cNvSpPr>
            <a:spLocks xmlns:a="http://schemas.openxmlformats.org/drawingml/2006/main" noGrp="1"/>
          </p:cNvSpPr>
          <p:nvPr/>
        </p:nvSpPr>
        <p:spPr>
          <a:xfrm xmlns:a="http://schemas.openxmlformats.org/drawingml/2006/main">
            <a:off x="5105400" y="274891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Conversation history</a:t>
            </a:r>
          </a:p>
        </p:txBody>
      </p:sp>
      <p:sp>
        <p:nvSpPr>
          <p:cNvPr id="20" name="">
            <a:extLst xmlns:a="http://schemas.openxmlformats.org/drawingml/2006/main">
              <a:ext uri="{FF2B5EF4-FFF2-40B4-BE49-F238E27FC236}">
                <a16:creationId xmlns:a16="http://schemas.microsoft.com/office/drawing/2014/main" id="{652535E9-8CE3-43AE-AB3F-75C53B901890}"/>
              </a:ext>
            </a:extLst>
          </p:cNvPr>
          <p:cNvSpPr>
            <a:spLocks xmlns:a="http://schemas.openxmlformats.org/drawingml/2006/main" noGrp="1"/>
          </p:cNvSpPr>
          <p:nvPr/>
        </p:nvSpPr>
        <p:spPr>
          <a:xfrm xmlns:a="http://schemas.openxmlformats.org/drawingml/2006/main">
            <a:off x="4991100" y="3173730"/>
            <a:ext cx="2228850" cy="434340"/>
          </a:xfrm>
          <a:prstGeom xmlns:a="http://schemas.openxmlformats.org/drawingml/2006/main" prst="roundRect">
            <a:avLst>
              <a:gd name="adj" fmla="val 13158"/>
            </a:avLst>
          </a:prstGeom>
          <a:solidFill xmlns:a="http://schemas.openxmlformats.org/drawingml/2006/main">
            <a:srgbClr val="FFF7DF"/>
          </a:solidFill>
          <a:ln xmlns:a="http://schemas.openxmlformats.org/drawingml/2006/main" w="10478">
            <a:solidFill>
              <a:srgbClr val="D7E6FB"/>
            </a:solidFill>
            <a:prstDash val="solid"/>
          </a:ln>
        </p:spPr>
      </p:sp>
      <p:sp>
        <p:nvSpPr>
          <p:cNvPr id="21" name="">
            <a:extLst xmlns:a="http://schemas.openxmlformats.org/drawingml/2006/main">
              <a:ext uri="{FF2B5EF4-FFF2-40B4-BE49-F238E27FC236}">
                <a16:creationId xmlns:a16="http://schemas.microsoft.com/office/drawing/2014/main" id="{000E09F2-140F-47A2-A9AE-B7D04A1E69D2}"/>
              </a:ext>
            </a:extLst>
          </p:cNvPr>
          <p:cNvSpPr>
            <a:spLocks xmlns:a="http://schemas.openxmlformats.org/drawingml/2006/main" noGrp="1"/>
          </p:cNvSpPr>
          <p:nvPr/>
        </p:nvSpPr>
        <p:spPr>
          <a:xfrm xmlns:a="http://schemas.openxmlformats.org/drawingml/2006/main">
            <a:off x="5105400" y="325945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Files / tool results</a:t>
            </a:r>
          </a:p>
        </p:txBody>
      </p:sp>
      <p:sp>
        <p:nvSpPr>
          <p:cNvPr id="22" name="">
            <a:extLst xmlns:a="http://schemas.openxmlformats.org/drawingml/2006/main">
              <a:ext uri="{FF2B5EF4-FFF2-40B4-BE49-F238E27FC236}">
                <a16:creationId xmlns:a16="http://schemas.microsoft.com/office/drawing/2014/main" id="{C7724C4C-A8A9-40CD-8398-FDC9BDD5C796}"/>
              </a:ext>
            </a:extLst>
          </p:cNvPr>
          <p:cNvSpPr>
            <a:spLocks xmlns:a="http://schemas.openxmlformats.org/drawingml/2006/main" noGrp="1"/>
          </p:cNvSpPr>
          <p:nvPr/>
        </p:nvSpPr>
        <p:spPr>
          <a:xfrm xmlns:a="http://schemas.openxmlformats.org/drawingml/2006/main">
            <a:off x="4991100" y="3684270"/>
            <a:ext cx="2228850" cy="434340"/>
          </a:xfrm>
          <a:prstGeom xmlns:a="http://schemas.openxmlformats.org/drawingml/2006/main" prst="roundRect">
            <a:avLst>
              <a:gd name="adj" fmla="val 13158"/>
            </a:avLst>
          </a:prstGeom>
          <a:solidFill xmlns:a="http://schemas.openxmlformats.org/drawingml/2006/main">
            <a:srgbClr val="F3EDFF"/>
          </a:solidFill>
          <a:ln xmlns:a="http://schemas.openxmlformats.org/drawingml/2006/main" w="10478">
            <a:solidFill>
              <a:srgbClr val="D7E6FB"/>
            </a:solidFill>
            <a:prstDash val="solid"/>
          </a:ln>
        </p:spPr>
      </p:sp>
      <p:sp>
        <p:nvSpPr>
          <p:cNvPr id="23" name="">
            <a:extLst xmlns:a="http://schemas.openxmlformats.org/drawingml/2006/main">
              <a:ext uri="{FF2B5EF4-FFF2-40B4-BE49-F238E27FC236}">
                <a16:creationId xmlns:a16="http://schemas.microsoft.com/office/drawing/2014/main" id="{5B9AFFC6-973D-4BDA-8E33-C36D59AA9971}"/>
              </a:ext>
            </a:extLst>
          </p:cNvPr>
          <p:cNvSpPr>
            <a:spLocks xmlns:a="http://schemas.openxmlformats.org/drawingml/2006/main" noGrp="1"/>
          </p:cNvSpPr>
          <p:nvPr/>
        </p:nvSpPr>
        <p:spPr>
          <a:xfrm xmlns:a="http://schemas.openxmlformats.org/drawingml/2006/main">
            <a:off x="5105400" y="376999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Current message</a:t>
            </a:r>
          </a:p>
        </p:txBody>
      </p:sp>
      <p:sp>
        <p:nvSpPr>
          <p:cNvPr id="24" name="">
            <a:extLst xmlns:a="http://schemas.openxmlformats.org/drawingml/2006/main">
              <a:ext uri="{FF2B5EF4-FFF2-40B4-BE49-F238E27FC236}">
                <a16:creationId xmlns:a16="http://schemas.microsoft.com/office/drawing/2014/main" id="{962D0C40-4B2C-4B1B-AAE8-B45A6A83628B}"/>
              </a:ext>
            </a:extLst>
          </p:cNvPr>
          <p:cNvSpPr>
            <a:spLocks xmlns:a="http://schemas.openxmlformats.org/drawingml/2006/main" noGrp="1"/>
          </p:cNvSpPr>
          <p:nvPr/>
        </p:nvSpPr>
        <p:spPr>
          <a:xfrm xmlns:a="http://schemas.openxmlformats.org/drawingml/2006/main">
            <a:off x="4991100" y="4194810"/>
            <a:ext cx="2228850" cy="434340"/>
          </a:xfrm>
          <a:prstGeom xmlns:a="http://schemas.openxmlformats.org/drawingml/2006/main" prst="roundRect">
            <a:avLst>
              <a:gd name="adj" fmla="val 13158"/>
            </a:avLst>
          </a:prstGeom>
          <a:solidFill xmlns:a="http://schemas.openxmlformats.org/drawingml/2006/main">
            <a:srgbClr val="EEF6FF"/>
          </a:solidFill>
          <a:ln xmlns:a="http://schemas.openxmlformats.org/drawingml/2006/main" w="10478">
            <a:solidFill>
              <a:srgbClr val="D7E6FB"/>
            </a:solidFill>
            <a:prstDash val="solid"/>
          </a:ln>
        </p:spPr>
      </p:sp>
      <p:sp>
        <p:nvSpPr>
          <p:cNvPr id="25" name="">
            <a:extLst xmlns:a="http://schemas.openxmlformats.org/drawingml/2006/main">
              <a:ext uri="{FF2B5EF4-FFF2-40B4-BE49-F238E27FC236}">
                <a16:creationId xmlns:a16="http://schemas.microsoft.com/office/drawing/2014/main" id="{A51D1912-8051-4EF1-B142-ADC3919E9174}"/>
              </a:ext>
            </a:extLst>
          </p:cNvPr>
          <p:cNvSpPr>
            <a:spLocks xmlns:a="http://schemas.openxmlformats.org/drawingml/2006/main" noGrp="1"/>
          </p:cNvSpPr>
          <p:nvPr/>
        </p:nvSpPr>
        <p:spPr>
          <a:xfrm xmlns:a="http://schemas.openxmlformats.org/drawingml/2006/main">
            <a:off x="5105400" y="428053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New assistant output</a:t>
            </a:r>
          </a:p>
        </p:txBody>
      </p:sp>
      <p:sp>
        <p:nvSpPr>
          <p:cNvPr id="26" name="">
            <a:extLst xmlns:a="http://schemas.openxmlformats.org/drawingml/2006/main">
              <a:ext uri="{FF2B5EF4-FFF2-40B4-BE49-F238E27FC236}">
                <a16:creationId xmlns:a16="http://schemas.microsoft.com/office/drawing/2014/main" id="{A2393D75-D344-40E3-88ED-1F1B2416358C}"/>
              </a:ext>
            </a:extLst>
          </p:cNvPr>
          <p:cNvSpPr>
            <a:spLocks xmlns:a="http://schemas.openxmlformats.org/drawingml/2006/main" noGrp="1"/>
          </p:cNvSpPr>
          <p:nvPr/>
        </p:nvSpPr>
        <p:spPr>
          <a:xfrm xmlns:a="http://schemas.openxmlformats.org/drawingml/2006/main">
            <a:off x="8915400" y="1695450"/>
            <a:ext cx="2571750" cy="31432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C49E894-E759-4E74-B2EB-DCC27894F109}"/>
              </a:ext>
            </a:extLst>
          </p:cNvPr>
          <p:cNvSpPr>
            <a:spLocks xmlns:a="http://schemas.openxmlformats.org/drawingml/2006/main" noGrp="1"/>
          </p:cNvSpPr>
          <p:nvPr/>
        </p:nvSpPr>
        <p:spPr>
          <a:xfrm xmlns:a="http://schemas.openxmlformats.org/drawingml/2006/main">
            <a:off x="9067800" y="18097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4AAD"/>
                </a:solidFill>
              </a:defRPr>
            </a:pPr>
            <a:r>
              <a:rPr sz="1275" b="1" i="0">
                <a:solidFill>
                  <a:srgbClr val="004AAD"/>
                </a:solidFill>
              </a:rPr>
              <a:t>Round 3 call</a:t>
            </a:r>
          </a:p>
        </p:txBody>
      </p:sp>
      <p:sp>
        <p:nvSpPr>
          <p:cNvPr id="28" name="">
            <a:extLst xmlns:a="http://schemas.openxmlformats.org/drawingml/2006/main">
              <a:ext uri="{FF2B5EF4-FFF2-40B4-BE49-F238E27FC236}">
                <a16:creationId xmlns:a16="http://schemas.microsoft.com/office/drawing/2014/main" id="{8CB4616A-1F10-4E6D-A86D-C20297954839}"/>
              </a:ext>
            </a:extLst>
          </p:cNvPr>
          <p:cNvSpPr>
            <a:spLocks xmlns:a="http://schemas.openxmlformats.org/drawingml/2006/main" noGrp="1"/>
          </p:cNvSpPr>
          <p:nvPr/>
        </p:nvSpPr>
        <p:spPr>
          <a:xfrm xmlns:a="http://schemas.openxmlformats.org/drawingml/2006/main">
            <a:off x="9086850" y="2152650"/>
            <a:ext cx="2228850" cy="434340"/>
          </a:xfrm>
          <a:prstGeom xmlns:a="http://schemas.openxmlformats.org/drawingml/2006/main" prst="roundRect">
            <a:avLst>
              <a:gd name="adj" fmla="val 13158"/>
            </a:avLst>
          </a:prstGeom>
          <a:solidFill xmlns:a="http://schemas.openxmlformats.org/drawingml/2006/main">
            <a:srgbClr val="E8F1FF"/>
          </a:solidFill>
          <a:ln xmlns:a="http://schemas.openxmlformats.org/drawingml/2006/main" w="10478">
            <a:solidFill>
              <a:srgbClr val="D7E6FB"/>
            </a:solidFill>
            <a:prstDash val="solid"/>
          </a:ln>
        </p:spPr>
      </p:sp>
      <p:sp>
        <p:nvSpPr>
          <p:cNvPr id="29" name="">
            <a:extLst xmlns:a="http://schemas.openxmlformats.org/drawingml/2006/main">
              <a:ext uri="{FF2B5EF4-FFF2-40B4-BE49-F238E27FC236}">
                <a16:creationId xmlns:a16="http://schemas.microsoft.com/office/drawing/2014/main" id="{A4C7DC71-6F66-4812-853B-3524802F2FA8}"/>
              </a:ext>
            </a:extLst>
          </p:cNvPr>
          <p:cNvSpPr>
            <a:spLocks xmlns:a="http://schemas.openxmlformats.org/drawingml/2006/main" noGrp="1"/>
          </p:cNvSpPr>
          <p:nvPr/>
        </p:nvSpPr>
        <p:spPr>
          <a:xfrm xmlns:a="http://schemas.openxmlformats.org/drawingml/2006/main">
            <a:off x="9201150" y="223837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System rules</a:t>
            </a:r>
          </a:p>
        </p:txBody>
      </p:sp>
      <p:sp>
        <p:nvSpPr>
          <p:cNvPr id="30" name="">
            <a:extLst xmlns:a="http://schemas.openxmlformats.org/drawingml/2006/main">
              <a:ext uri="{FF2B5EF4-FFF2-40B4-BE49-F238E27FC236}">
                <a16:creationId xmlns:a16="http://schemas.microsoft.com/office/drawing/2014/main" id="{B14FABEE-0513-4AB7-AF1F-087240F9654F}"/>
              </a:ext>
            </a:extLst>
          </p:cNvPr>
          <p:cNvSpPr>
            <a:spLocks xmlns:a="http://schemas.openxmlformats.org/drawingml/2006/main" noGrp="1"/>
          </p:cNvSpPr>
          <p:nvPr/>
        </p:nvSpPr>
        <p:spPr>
          <a:xfrm xmlns:a="http://schemas.openxmlformats.org/drawingml/2006/main">
            <a:off x="9086850" y="2663190"/>
            <a:ext cx="2228850" cy="434340"/>
          </a:xfrm>
          <a:prstGeom xmlns:a="http://schemas.openxmlformats.org/drawingml/2006/main" prst="roundRect">
            <a:avLst>
              <a:gd name="adj" fmla="val 13158"/>
            </a:avLst>
          </a:prstGeom>
          <a:solidFill xmlns:a="http://schemas.openxmlformats.org/drawingml/2006/main">
            <a:srgbClr val="EEFAF2"/>
          </a:solidFill>
          <a:ln xmlns:a="http://schemas.openxmlformats.org/drawingml/2006/main" w="10478">
            <a:solidFill>
              <a:srgbClr val="D7E6FB"/>
            </a:solidFill>
            <a:prstDash val="solid"/>
          </a:ln>
        </p:spPr>
      </p:sp>
      <p:sp>
        <p:nvSpPr>
          <p:cNvPr id="31" name="">
            <a:extLst xmlns:a="http://schemas.openxmlformats.org/drawingml/2006/main">
              <a:ext uri="{FF2B5EF4-FFF2-40B4-BE49-F238E27FC236}">
                <a16:creationId xmlns:a16="http://schemas.microsoft.com/office/drawing/2014/main" id="{0978E279-655F-41D9-B9F0-867410CB73FA}"/>
              </a:ext>
            </a:extLst>
          </p:cNvPr>
          <p:cNvSpPr>
            <a:spLocks xmlns:a="http://schemas.openxmlformats.org/drawingml/2006/main" noGrp="1"/>
          </p:cNvSpPr>
          <p:nvPr/>
        </p:nvSpPr>
        <p:spPr>
          <a:xfrm xmlns:a="http://schemas.openxmlformats.org/drawingml/2006/main">
            <a:off x="9201150" y="274891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Conversation history</a:t>
            </a:r>
          </a:p>
        </p:txBody>
      </p:sp>
      <p:sp>
        <p:nvSpPr>
          <p:cNvPr id="32" name="">
            <a:extLst xmlns:a="http://schemas.openxmlformats.org/drawingml/2006/main">
              <a:ext uri="{FF2B5EF4-FFF2-40B4-BE49-F238E27FC236}">
                <a16:creationId xmlns:a16="http://schemas.microsoft.com/office/drawing/2014/main" id="{2DCB18E8-7288-4556-88D6-49622A0CEFA9}"/>
              </a:ext>
            </a:extLst>
          </p:cNvPr>
          <p:cNvSpPr>
            <a:spLocks xmlns:a="http://schemas.openxmlformats.org/drawingml/2006/main" noGrp="1"/>
          </p:cNvSpPr>
          <p:nvPr/>
        </p:nvSpPr>
        <p:spPr>
          <a:xfrm xmlns:a="http://schemas.openxmlformats.org/drawingml/2006/main">
            <a:off x="9086850" y="3173730"/>
            <a:ext cx="2228850" cy="434340"/>
          </a:xfrm>
          <a:prstGeom xmlns:a="http://schemas.openxmlformats.org/drawingml/2006/main" prst="roundRect">
            <a:avLst>
              <a:gd name="adj" fmla="val 13158"/>
            </a:avLst>
          </a:prstGeom>
          <a:solidFill xmlns:a="http://schemas.openxmlformats.org/drawingml/2006/main">
            <a:srgbClr val="FFF7DF"/>
          </a:solidFill>
          <a:ln xmlns:a="http://schemas.openxmlformats.org/drawingml/2006/main" w="10478">
            <a:solidFill>
              <a:srgbClr val="D7E6FB"/>
            </a:solidFill>
            <a:prstDash val="solid"/>
          </a:ln>
        </p:spPr>
      </p:sp>
      <p:sp>
        <p:nvSpPr>
          <p:cNvPr id="33" name="">
            <a:extLst xmlns:a="http://schemas.openxmlformats.org/drawingml/2006/main">
              <a:ext uri="{FF2B5EF4-FFF2-40B4-BE49-F238E27FC236}">
                <a16:creationId xmlns:a16="http://schemas.microsoft.com/office/drawing/2014/main" id="{A531270E-BBAC-4EBE-BC68-3B90DB3F00E5}"/>
              </a:ext>
            </a:extLst>
          </p:cNvPr>
          <p:cNvSpPr>
            <a:spLocks xmlns:a="http://schemas.openxmlformats.org/drawingml/2006/main" noGrp="1"/>
          </p:cNvSpPr>
          <p:nvPr/>
        </p:nvSpPr>
        <p:spPr>
          <a:xfrm xmlns:a="http://schemas.openxmlformats.org/drawingml/2006/main">
            <a:off x="9201150" y="325945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Files / tool results</a:t>
            </a:r>
          </a:p>
        </p:txBody>
      </p:sp>
      <p:sp>
        <p:nvSpPr>
          <p:cNvPr id="34" name="">
            <a:extLst xmlns:a="http://schemas.openxmlformats.org/drawingml/2006/main">
              <a:ext uri="{FF2B5EF4-FFF2-40B4-BE49-F238E27FC236}">
                <a16:creationId xmlns:a16="http://schemas.microsoft.com/office/drawing/2014/main" id="{74A75A73-0A92-45A2-ABEF-CA0FA0A5EFBF}"/>
              </a:ext>
            </a:extLst>
          </p:cNvPr>
          <p:cNvSpPr>
            <a:spLocks xmlns:a="http://schemas.openxmlformats.org/drawingml/2006/main" noGrp="1"/>
          </p:cNvSpPr>
          <p:nvPr/>
        </p:nvSpPr>
        <p:spPr>
          <a:xfrm xmlns:a="http://schemas.openxmlformats.org/drawingml/2006/main">
            <a:off x="9086850" y="3684270"/>
            <a:ext cx="2228850" cy="434340"/>
          </a:xfrm>
          <a:prstGeom xmlns:a="http://schemas.openxmlformats.org/drawingml/2006/main" prst="roundRect">
            <a:avLst>
              <a:gd name="adj" fmla="val 13158"/>
            </a:avLst>
          </a:prstGeom>
          <a:solidFill xmlns:a="http://schemas.openxmlformats.org/drawingml/2006/main">
            <a:srgbClr val="F3EDFF"/>
          </a:solidFill>
          <a:ln xmlns:a="http://schemas.openxmlformats.org/drawingml/2006/main" w="10478">
            <a:solidFill>
              <a:srgbClr val="D7E6FB"/>
            </a:solidFill>
            <a:prstDash val="solid"/>
          </a:ln>
        </p:spPr>
      </p:sp>
      <p:sp>
        <p:nvSpPr>
          <p:cNvPr id="35" name="">
            <a:extLst xmlns:a="http://schemas.openxmlformats.org/drawingml/2006/main">
              <a:ext uri="{FF2B5EF4-FFF2-40B4-BE49-F238E27FC236}">
                <a16:creationId xmlns:a16="http://schemas.microsoft.com/office/drawing/2014/main" id="{3026AEAC-F849-4661-ABFD-40DDA16DA307}"/>
              </a:ext>
            </a:extLst>
          </p:cNvPr>
          <p:cNvSpPr>
            <a:spLocks xmlns:a="http://schemas.openxmlformats.org/drawingml/2006/main" noGrp="1"/>
          </p:cNvSpPr>
          <p:nvPr/>
        </p:nvSpPr>
        <p:spPr>
          <a:xfrm xmlns:a="http://schemas.openxmlformats.org/drawingml/2006/main">
            <a:off x="9201150" y="376999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61A45"/>
                </a:solidFill>
              </a:defRPr>
            </a:pPr>
            <a:r>
              <a:rPr sz="1200" b="1" i="0">
                <a:solidFill>
                  <a:srgbClr val="061A45"/>
                </a:solidFill>
              </a:rPr>
              <a:t>Current message</a:t>
            </a:r>
          </a:p>
        </p:txBody>
      </p:sp>
      <p:sp>
        <p:nvSpPr>
          <p:cNvPr id="36" name="">
            <a:extLst xmlns:a="http://schemas.openxmlformats.org/drawingml/2006/main">
              <a:ext uri="{FF2B5EF4-FFF2-40B4-BE49-F238E27FC236}">
                <a16:creationId xmlns:a16="http://schemas.microsoft.com/office/drawing/2014/main" id="{660CF838-DB9F-4BA0-BEED-B1B2E448566B}"/>
              </a:ext>
            </a:extLst>
          </p:cNvPr>
          <p:cNvSpPr>
            <a:spLocks xmlns:a="http://schemas.openxmlformats.org/drawingml/2006/main" noGrp="1"/>
          </p:cNvSpPr>
          <p:nvPr/>
        </p:nvSpPr>
        <p:spPr>
          <a:xfrm xmlns:a="http://schemas.openxmlformats.org/drawingml/2006/main">
            <a:off x="9086850" y="4194810"/>
            <a:ext cx="2228850" cy="434340"/>
          </a:xfrm>
          <a:prstGeom xmlns:a="http://schemas.openxmlformats.org/drawingml/2006/main" prst="roundRect">
            <a:avLst>
              <a:gd name="adj" fmla="val 13158"/>
            </a:avLst>
          </a:prstGeom>
          <a:solidFill xmlns:a="http://schemas.openxmlformats.org/drawingml/2006/main">
            <a:srgbClr val="EEF6FF"/>
          </a:solidFill>
          <a:ln xmlns:a="http://schemas.openxmlformats.org/drawingml/2006/main" w="10478">
            <a:solidFill>
              <a:srgbClr val="D7E6FB"/>
            </a:solidFill>
            <a:prstDash val="solid"/>
          </a:ln>
        </p:spPr>
      </p:sp>
      <p:sp>
        <p:nvSpPr>
          <p:cNvPr id="37" name="">
            <a:extLst xmlns:a="http://schemas.openxmlformats.org/drawingml/2006/main">
              <a:ext uri="{FF2B5EF4-FFF2-40B4-BE49-F238E27FC236}">
                <a16:creationId xmlns:a16="http://schemas.microsoft.com/office/drawing/2014/main" id="{6399CE3D-C960-457F-A6F9-C05EDDF9FFC1}"/>
              </a:ext>
            </a:extLst>
          </p:cNvPr>
          <p:cNvSpPr>
            <a:spLocks xmlns:a="http://schemas.openxmlformats.org/drawingml/2006/main" noGrp="1"/>
          </p:cNvSpPr>
          <p:nvPr/>
        </p:nvSpPr>
        <p:spPr>
          <a:xfrm xmlns:a="http://schemas.openxmlformats.org/drawingml/2006/main">
            <a:off x="9201150" y="4280535"/>
            <a:ext cx="2000250" cy="3390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More history added</a:t>
            </a:r>
          </a:p>
        </p:txBody>
      </p:sp>
      <p:sp>
        <p:nvSpPr>
          <p:cNvPr id="38" name="">
            <a:extLst xmlns:a="http://schemas.openxmlformats.org/drawingml/2006/main">
              <a:ext uri="{FF2B5EF4-FFF2-40B4-BE49-F238E27FC236}">
                <a16:creationId xmlns:a16="http://schemas.microsoft.com/office/drawing/2014/main" id="{A9DD1E93-2779-4FEC-8488-A90541DD3315}"/>
              </a:ext>
            </a:extLst>
          </p:cNvPr>
          <p:cNvSpPr>
            <a:spLocks xmlns:a="http://schemas.openxmlformats.org/drawingml/2006/main" noGrp="1"/>
          </p:cNvSpPr>
          <p:nvPr/>
        </p:nvSpPr>
        <p:spPr>
          <a:xfrm xmlns:a="http://schemas.openxmlformats.org/drawingml/2006/main">
            <a:off x="3429000" y="3238500"/>
            <a:ext cx="1143000" cy="0"/>
          </a:xfrm>
          <a:prstGeom xmlns:a="http://schemas.openxmlformats.org/drawingml/2006/main" prst="line">
            <a:avLst/>
          </a:prstGeom>
          <a:ln xmlns:a="http://schemas.openxmlformats.org/drawingml/2006/main" w="38100">
            <a:solidFill>
              <a:srgbClr val="004AAD"/>
            </a:solidFill>
            <a:prstDash val="solid"/>
          </a:ln>
        </p:spPr>
      </p:sp>
      <p:sp>
        <p:nvSpPr>
          <p:cNvPr id="39" name="">
            <a:extLst xmlns:a="http://schemas.openxmlformats.org/drawingml/2006/main">
              <a:ext uri="{FF2B5EF4-FFF2-40B4-BE49-F238E27FC236}">
                <a16:creationId xmlns:a16="http://schemas.microsoft.com/office/drawing/2014/main" id="{8D0ABC80-D2BE-441A-BC9C-550024542D00}"/>
              </a:ext>
            </a:extLst>
          </p:cNvPr>
          <p:cNvSpPr>
            <a:spLocks xmlns:a="http://schemas.openxmlformats.org/drawingml/2006/main" noGrp="1"/>
          </p:cNvSpPr>
          <p:nvPr/>
        </p:nvSpPr>
        <p:spPr>
          <a:xfrm xmlns:a="http://schemas.openxmlformats.org/drawingml/2006/main">
            <a:off x="7524750" y="3238500"/>
            <a:ext cx="1143000" cy="0"/>
          </a:xfrm>
          <a:prstGeom xmlns:a="http://schemas.openxmlformats.org/drawingml/2006/main" prst="line">
            <a:avLst/>
          </a:prstGeom>
          <a:ln xmlns:a="http://schemas.openxmlformats.org/drawingml/2006/main" w="38100">
            <a:solidFill>
              <a:srgbClr val="004AAD"/>
            </a:solidFill>
            <a:prstDash val="solid"/>
          </a:ln>
        </p:spPr>
      </p:sp>
      <p:sp>
        <p:nvSpPr>
          <p:cNvPr id="40" name="">
            <a:extLst xmlns:a="http://schemas.openxmlformats.org/drawingml/2006/main">
              <a:ext uri="{FF2B5EF4-FFF2-40B4-BE49-F238E27FC236}">
                <a16:creationId xmlns:a16="http://schemas.microsoft.com/office/drawing/2014/main" id="{F4FCCC7A-817C-4253-9B97-E6DD5F27AB3A}"/>
              </a:ext>
            </a:extLst>
          </p:cNvPr>
          <p:cNvSpPr>
            <a:spLocks xmlns:a="http://schemas.openxmlformats.org/drawingml/2006/main" noGrp="1"/>
          </p:cNvSpPr>
          <p:nvPr/>
        </p:nvSpPr>
        <p:spPr>
          <a:xfrm xmlns:a="http://schemas.openxmlformats.org/drawingml/2006/main">
            <a:off x="1257300" y="5334000"/>
            <a:ext cx="9677400" cy="685800"/>
          </a:xfrm>
          <a:prstGeom xmlns:a="http://schemas.openxmlformats.org/drawingml/2006/main" prst="roundRect">
            <a:avLst>
              <a:gd name="adj" fmla="val 11111"/>
            </a:avLst>
          </a:prstGeom>
          <a:solidFill xmlns:a="http://schemas.openxmlformats.org/drawingml/2006/main">
            <a:srgbClr val="F8FBFF"/>
          </a:solidFill>
          <a:ln xmlns:a="http://schemas.openxmlformats.org/drawingml/2006/main" w="10478">
            <a:solidFill>
              <a:srgbClr val="004AAD"/>
            </a:solidFill>
            <a:prstDash val="solid"/>
          </a:ln>
        </p:spPr>
      </p:sp>
      <p:sp>
        <p:nvSpPr>
          <p:cNvPr id="41" name="">
            <a:extLst xmlns:a="http://schemas.openxmlformats.org/drawingml/2006/main">
              <a:ext uri="{FF2B5EF4-FFF2-40B4-BE49-F238E27FC236}">
                <a16:creationId xmlns:a16="http://schemas.microsoft.com/office/drawing/2014/main" id="{180D300E-45F9-4492-BF77-657B4D7FA106}"/>
              </a:ext>
            </a:extLst>
          </p:cNvPr>
          <p:cNvSpPr>
            <a:spLocks xmlns:a="http://schemas.openxmlformats.org/drawingml/2006/main" noGrp="1"/>
          </p:cNvSpPr>
          <p:nvPr/>
        </p:nvSpPr>
        <p:spPr>
          <a:xfrm xmlns:a="http://schemas.openxmlformats.org/drawingml/2006/main">
            <a:off x="1600200" y="55340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004AAD"/>
                </a:solidFill>
              </a:defRPr>
            </a:pPr>
            <a:r>
              <a:rPr sz="1725" b="1" i="0">
                <a:solidFill>
                  <a:srgbClr val="004AAD"/>
                </a:solidFill>
              </a:rPr>
              <a:t>Key idea</a:t>
            </a:r>
          </a:p>
        </p:txBody>
      </p:sp>
      <p:sp>
        <p:nvSpPr>
          <p:cNvPr id="42" name="">
            <a:extLst xmlns:a="http://schemas.openxmlformats.org/drawingml/2006/main">
              <a:ext uri="{FF2B5EF4-FFF2-40B4-BE49-F238E27FC236}">
                <a16:creationId xmlns:a16="http://schemas.microsoft.com/office/drawing/2014/main" id="{A8EE04DE-931B-4B45-B7B5-04157069CAED}"/>
              </a:ext>
            </a:extLst>
          </p:cNvPr>
          <p:cNvSpPr>
            <a:spLocks xmlns:a="http://schemas.openxmlformats.org/drawingml/2006/main" noGrp="1"/>
          </p:cNvSpPr>
          <p:nvPr/>
        </p:nvSpPr>
        <p:spPr>
          <a:xfrm xmlns:a="http://schemas.openxmlformats.org/drawingml/2006/main">
            <a:off x="3028950" y="5514975"/>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061A45"/>
                </a:solidFill>
              </a:defRPr>
            </a:pPr>
            <a:r>
              <a:rPr sz="1425" b="0" i="0">
                <a:solidFill>
                  <a:srgbClr val="061A45"/>
                </a:solidFill>
              </a:rPr>
              <a:t>Every call is built from the current visible paper: stable rules, selected history, tool results, files, and the latest user message.</a:t>
            </a:r>
          </a:p>
        </p:txBody>
      </p:sp>
    </p:spTree>
    <p:extLst>
      <p:ext uri="{BB962C8B-B14F-4D97-AF65-F5344CB8AC3E}">
        <p14:creationId xmlns:p14="http://schemas.microsoft.com/office/powerpoint/2010/main" val="13387962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EDC733-2601-47AE-B40E-0725812246F8}"/>
              </a:ext>
            </a:extLst>
          </p:cNvPr>
          <p:cNvSpPr>
            <a:spLocks xmlns:a="http://schemas.openxmlformats.org/drawingml/2006/main" noGrp="1"/>
          </p:cNvSpPr>
          <p:nvPr/>
        </p:nvSpPr>
        <p:spPr>
          <a:xfrm xmlns:a="http://schemas.openxmlformats.org/drawingml/2006/main">
            <a:off x="457200" y="266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Prompt Cache Reuses a Stable Prefix</a:t>
            </a:r>
          </a:p>
        </p:txBody>
      </p:sp>
      <p:sp>
        <p:nvSpPr>
          <p:cNvPr id="2" name="">
            <a:extLst xmlns:a="http://schemas.openxmlformats.org/drawingml/2006/main">
              <a:ext uri="{FF2B5EF4-FFF2-40B4-BE49-F238E27FC236}">
                <a16:creationId xmlns:a16="http://schemas.microsoft.com/office/drawing/2014/main" id="{3A7F8BF5-5F70-4C87-A44F-653666744F9F}"/>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The repeated top of the paper can be processed through a cached path.</a:t>
            </a:r>
          </a:p>
        </p:txBody>
      </p:sp>
      <p:sp>
        <p:nvSpPr>
          <p:cNvPr id="3" name="">
            <a:extLst xmlns:a="http://schemas.openxmlformats.org/drawingml/2006/main">
              <a:ext uri="{FF2B5EF4-FFF2-40B4-BE49-F238E27FC236}">
                <a16:creationId xmlns:a16="http://schemas.microsoft.com/office/drawing/2014/main" id="{BC169E27-313C-4F16-9CB4-B49ED84C2149}"/>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1087BF23-82A7-41A7-8BAD-DA54F947B0DD}"/>
              </a:ext>
            </a:extLst>
          </p:cNvPr>
          <p:cNvSpPr>
            <a:spLocks xmlns:a="http://schemas.openxmlformats.org/drawingml/2006/main" noGrp="1"/>
          </p:cNvSpPr>
          <p:nvPr/>
        </p:nvSpPr>
        <p:spPr>
          <a:xfrm xmlns:a="http://schemas.openxmlformats.org/drawingml/2006/main">
            <a:off x="1000125" y="1714500"/>
            <a:ext cx="4095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A9A5C68-9F56-468D-AE75-0AEF95B53DC3}"/>
              </a:ext>
            </a:extLst>
          </p:cNvPr>
          <p:cNvSpPr>
            <a:spLocks xmlns:a="http://schemas.openxmlformats.org/drawingml/2006/main" noGrp="1"/>
          </p:cNvSpPr>
          <p:nvPr/>
        </p:nvSpPr>
        <p:spPr>
          <a:xfrm xmlns:a="http://schemas.openxmlformats.org/drawingml/2006/main">
            <a:off x="1152525" y="1828800"/>
            <a:ext cx="3790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4AAD"/>
                </a:solidFill>
              </a:defRPr>
            </a:pPr>
            <a:r>
              <a:rPr sz="1275" b="1" i="0">
                <a:solidFill>
                  <a:srgbClr val="004AAD"/>
                </a:solidFill>
              </a:rPr>
              <a:t>This call's visible paper</a:t>
            </a:r>
          </a:p>
        </p:txBody>
      </p:sp>
      <p:sp>
        <p:nvSpPr>
          <p:cNvPr id="6" name="">
            <a:extLst xmlns:a="http://schemas.openxmlformats.org/drawingml/2006/main">
              <a:ext uri="{FF2B5EF4-FFF2-40B4-BE49-F238E27FC236}">
                <a16:creationId xmlns:a16="http://schemas.microsoft.com/office/drawing/2014/main" id="{D714A844-D8D4-4F44-867A-0B91405662AF}"/>
              </a:ext>
            </a:extLst>
          </p:cNvPr>
          <p:cNvSpPr>
            <a:spLocks xmlns:a="http://schemas.openxmlformats.org/drawingml/2006/main" noGrp="1"/>
          </p:cNvSpPr>
          <p:nvPr/>
        </p:nvSpPr>
        <p:spPr>
          <a:xfrm xmlns:a="http://schemas.openxmlformats.org/drawingml/2006/main">
            <a:off x="1171575" y="2171700"/>
            <a:ext cx="3752850" cy="472440"/>
          </a:xfrm>
          <a:prstGeom xmlns:a="http://schemas.openxmlformats.org/drawingml/2006/main" prst="roundRect">
            <a:avLst>
              <a:gd name="adj" fmla="val 12097"/>
            </a:avLst>
          </a:prstGeom>
          <a:solidFill xmlns:a="http://schemas.openxmlformats.org/drawingml/2006/main">
            <a:srgbClr val="E8F1FF"/>
          </a:solidFill>
          <a:ln xmlns:a="http://schemas.openxmlformats.org/drawingml/2006/main" w="10478">
            <a:solidFill>
              <a:srgbClr val="D7E6FB"/>
            </a:solidFill>
            <a:prstDash val="solid"/>
          </a:ln>
        </p:spPr>
      </p:sp>
      <p:sp>
        <p:nvSpPr>
          <p:cNvPr id="7" name="">
            <a:extLst xmlns:a="http://schemas.openxmlformats.org/drawingml/2006/main">
              <a:ext uri="{FF2B5EF4-FFF2-40B4-BE49-F238E27FC236}">
                <a16:creationId xmlns:a16="http://schemas.microsoft.com/office/drawing/2014/main" id="{40E2BB9C-44FB-475C-9928-7AFE18CBE5A0}"/>
              </a:ext>
            </a:extLst>
          </p:cNvPr>
          <p:cNvSpPr>
            <a:spLocks xmlns:a="http://schemas.openxmlformats.org/drawingml/2006/main" noGrp="1"/>
          </p:cNvSpPr>
          <p:nvPr/>
        </p:nvSpPr>
        <p:spPr>
          <a:xfrm xmlns:a="http://schemas.openxmlformats.org/drawingml/2006/main">
            <a:off x="1285875" y="2257425"/>
            <a:ext cx="3524250" cy="3771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Cached prefix: system prompt</a:t>
            </a:r>
          </a:p>
        </p:txBody>
      </p:sp>
      <p:sp>
        <p:nvSpPr>
          <p:cNvPr id="8" name="">
            <a:extLst xmlns:a="http://schemas.openxmlformats.org/drawingml/2006/main">
              <a:ext uri="{FF2B5EF4-FFF2-40B4-BE49-F238E27FC236}">
                <a16:creationId xmlns:a16="http://schemas.microsoft.com/office/drawing/2014/main" id="{05B808B1-E9F9-4947-91E9-3FF87F60011B}"/>
              </a:ext>
            </a:extLst>
          </p:cNvPr>
          <p:cNvSpPr>
            <a:spLocks xmlns:a="http://schemas.openxmlformats.org/drawingml/2006/main" noGrp="1"/>
          </p:cNvSpPr>
          <p:nvPr/>
        </p:nvSpPr>
        <p:spPr>
          <a:xfrm xmlns:a="http://schemas.openxmlformats.org/drawingml/2006/main">
            <a:off x="1171575" y="2720340"/>
            <a:ext cx="3752850" cy="472440"/>
          </a:xfrm>
          <a:prstGeom xmlns:a="http://schemas.openxmlformats.org/drawingml/2006/main" prst="roundRect">
            <a:avLst>
              <a:gd name="adj" fmla="val 12097"/>
            </a:avLst>
          </a:prstGeom>
          <a:solidFill xmlns:a="http://schemas.openxmlformats.org/drawingml/2006/main">
            <a:srgbClr val="E8F1FF"/>
          </a:solidFill>
          <a:ln xmlns:a="http://schemas.openxmlformats.org/drawingml/2006/main" w="10478">
            <a:solidFill>
              <a:srgbClr val="D7E6FB"/>
            </a:solidFill>
            <a:prstDash val="solid"/>
          </a:ln>
        </p:spPr>
      </p:sp>
      <p:sp>
        <p:nvSpPr>
          <p:cNvPr id="9" name="">
            <a:extLst xmlns:a="http://schemas.openxmlformats.org/drawingml/2006/main">
              <a:ext uri="{FF2B5EF4-FFF2-40B4-BE49-F238E27FC236}">
                <a16:creationId xmlns:a16="http://schemas.microsoft.com/office/drawing/2014/main" id="{84AFF930-1888-4A84-9796-443DC6B916F6}"/>
              </a:ext>
            </a:extLst>
          </p:cNvPr>
          <p:cNvSpPr>
            <a:spLocks xmlns:a="http://schemas.openxmlformats.org/drawingml/2006/main" noGrp="1"/>
          </p:cNvSpPr>
          <p:nvPr/>
        </p:nvSpPr>
        <p:spPr>
          <a:xfrm xmlns:a="http://schemas.openxmlformats.org/drawingml/2006/main">
            <a:off x="1285875" y="2806065"/>
            <a:ext cx="3524250" cy="3771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Cached prefix: tool definitions</a:t>
            </a:r>
          </a:p>
        </p:txBody>
      </p:sp>
      <p:sp>
        <p:nvSpPr>
          <p:cNvPr id="10" name="">
            <a:extLst xmlns:a="http://schemas.openxmlformats.org/drawingml/2006/main">
              <a:ext uri="{FF2B5EF4-FFF2-40B4-BE49-F238E27FC236}">
                <a16:creationId xmlns:a16="http://schemas.microsoft.com/office/drawing/2014/main" id="{8311E4D1-2F9E-49B9-AFB3-169C2F987BB5}"/>
              </a:ext>
            </a:extLst>
          </p:cNvPr>
          <p:cNvSpPr>
            <a:spLocks xmlns:a="http://schemas.openxmlformats.org/drawingml/2006/main" noGrp="1"/>
          </p:cNvSpPr>
          <p:nvPr/>
        </p:nvSpPr>
        <p:spPr>
          <a:xfrm xmlns:a="http://schemas.openxmlformats.org/drawingml/2006/main">
            <a:off x="1171575" y="3268980"/>
            <a:ext cx="3752850" cy="472440"/>
          </a:xfrm>
          <a:prstGeom xmlns:a="http://schemas.openxmlformats.org/drawingml/2006/main" prst="roundRect">
            <a:avLst>
              <a:gd name="adj" fmla="val 12097"/>
            </a:avLst>
          </a:prstGeom>
          <a:solidFill xmlns:a="http://schemas.openxmlformats.org/drawingml/2006/main">
            <a:srgbClr val="E8F1FF"/>
          </a:solidFill>
          <a:ln xmlns:a="http://schemas.openxmlformats.org/drawingml/2006/main" w="10478">
            <a:solidFill>
              <a:srgbClr val="D7E6FB"/>
            </a:solidFill>
            <a:prstDash val="solid"/>
          </a:ln>
        </p:spPr>
      </p:sp>
      <p:sp>
        <p:nvSpPr>
          <p:cNvPr id="11" name="">
            <a:extLst xmlns:a="http://schemas.openxmlformats.org/drawingml/2006/main">
              <a:ext uri="{FF2B5EF4-FFF2-40B4-BE49-F238E27FC236}">
                <a16:creationId xmlns:a16="http://schemas.microsoft.com/office/drawing/2014/main" id="{7E7FA3AF-2B5F-4171-90FF-58E5B75FB4F0}"/>
              </a:ext>
            </a:extLst>
          </p:cNvPr>
          <p:cNvSpPr>
            <a:spLocks xmlns:a="http://schemas.openxmlformats.org/drawingml/2006/main" noGrp="1"/>
          </p:cNvSpPr>
          <p:nvPr/>
        </p:nvSpPr>
        <p:spPr>
          <a:xfrm xmlns:a="http://schemas.openxmlformats.org/drawingml/2006/main">
            <a:off x="1285875" y="3354705"/>
            <a:ext cx="3524250" cy="3771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Cached prefix: long reference docs</a:t>
            </a:r>
          </a:p>
        </p:txBody>
      </p:sp>
      <p:sp>
        <p:nvSpPr>
          <p:cNvPr id="12" name="">
            <a:extLst xmlns:a="http://schemas.openxmlformats.org/drawingml/2006/main">
              <a:ext uri="{FF2B5EF4-FFF2-40B4-BE49-F238E27FC236}">
                <a16:creationId xmlns:a16="http://schemas.microsoft.com/office/drawing/2014/main" id="{70350611-8794-4D84-B1CF-E703262BB8FE}"/>
              </a:ext>
            </a:extLst>
          </p:cNvPr>
          <p:cNvSpPr>
            <a:spLocks xmlns:a="http://schemas.openxmlformats.org/drawingml/2006/main" noGrp="1"/>
          </p:cNvSpPr>
          <p:nvPr/>
        </p:nvSpPr>
        <p:spPr>
          <a:xfrm xmlns:a="http://schemas.openxmlformats.org/drawingml/2006/main">
            <a:off x="1171575" y="3817620"/>
            <a:ext cx="3752850" cy="472440"/>
          </a:xfrm>
          <a:prstGeom xmlns:a="http://schemas.openxmlformats.org/drawingml/2006/main" prst="roundRect">
            <a:avLst>
              <a:gd name="adj" fmla="val 12097"/>
            </a:avLst>
          </a:prstGeom>
          <a:solidFill xmlns:a="http://schemas.openxmlformats.org/drawingml/2006/main">
            <a:srgbClr val="FFF7DF"/>
          </a:solidFill>
          <a:ln xmlns:a="http://schemas.openxmlformats.org/drawingml/2006/main" w="10478">
            <a:solidFill>
              <a:srgbClr val="D7E6FB"/>
            </a:solidFill>
            <a:prstDash val="solid"/>
          </a:ln>
        </p:spPr>
      </p:sp>
      <p:sp>
        <p:nvSpPr>
          <p:cNvPr id="13" name="">
            <a:extLst xmlns:a="http://schemas.openxmlformats.org/drawingml/2006/main">
              <a:ext uri="{FF2B5EF4-FFF2-40B4-BE49-F238E27FC236}">
                <a16:creationId xmlns:a16="http://schemas.microsoft.com/office/drawing/2014/main" id="{02A473FB-EC8B-4767-8A44-A9EBD672C8C2}"/>
              </a:ext>
            </a:extLst>
          </p:cNvPr>
          <p:cNvSpPr>
            <a:spLocks xmlns:a="http://schemas.openxmlformats.org/drawingml/2006/main" noGrp="1"/>
          </p:cNvSpPr>
          <p:nvPr/>
        </p:nvSpPr>
        <p:spPr>
          <a:xfrm xmlns:a="http://schemas.openxmlformats.org/drawingml/2006/main">
            <a:off x="1285875" y="3903345"/>
            <a:ext cx="3524250" cy="3771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D88A00"/>
                </a:solidFill>
              </a:defRPr>
            </a:pPr>
            <a:r>
              <a:rPr sz="1200" b="1" i="0">
                <a:solidFill>
                  <a:srgbClr val="D88A00"/>
                </a:solidFill>
              </a:rPr>
              <a:t>New tail: latest user message</a:t>
            </a:r>
          </a:p>
        </p:txBody>
      </p:sp>
      <p:sp>
        <p:nvSpPr>
          <p:cNvPr id="14" name="">
            <a:extLst xmlns:a="http://schemas.openxmlformats.org/drawingml/2006/main">
              <a:ext uri="{FF2B5EF4-FFF2-40B4-BE49-F238E27FC236}">
                <a16:creationId xmlns:a16="http://schemas.microsoft.com/office/drawing/2014/main" id="{DA300ABE-335E-40E8-92BF-404CA72F86E6}"/>
              </a:ext>
            </a:extLst>
          </p:cNvPr>
          <p:cNvSpPr>
            <a:spLocks xmlns:a="http://schemas.openxmlformats.org/drawingml/2006/main" noGrp="1"/>
          </p:cNvSpPr>
          <p:nvPr/>
        </p:nvSpPr>
        <p:spPr>
          <a:xfrm xmlns:a="http://schemas.openxmlformats.org/drawingml/2006/main">
            <a:off x="1171575" y="4366260"/>
            <a:ext cx="3752850" cy="472440"/>
          </a:xfrm>
          <a:prstGeom xmlns:a="http://schemas.openxmlformats.org/drawingml/2006/main" prst="roundRect">
            <a:avLst>
              <a:gd name="adj" fmla="val 12097"/>
            </a:avLst>
          </a:prstGeom>
          <a:solidFill xmlns:a="http://schemas.openxmlformats.org/drawingml/2006/main">
            <a:srgbClr val="FFF7DF"/>
          </a:solidFill>
          <a:ln xmlns:a="http://schemas.openxmlformats.org/drawingml/2006/main" w="10478">
            <a:solidFill>
              <a:srgbClr val="D7E6FB"/>
            </a:solidFill>
            <a:prstDash val="solid"/>
          </a:ln>
        </p:spPr>
      </p:sp>
      <p:sp>
        <p:nvSpPr>
          <p:cNvPr id="15" name="">
            <a:extLst xmlns:a="http://schemas.openxmlformats.org/drawingml/2006/main">
              <a:ext uri="{FF2B5EF4-FFF2-40B4-BE49-F238E27FC236}">
                <a16:creationId xmlns:a16="http://schemas.microsoft.com/office/drawing/2014/main" id="{BF0B28B0-D68D-4B16-B398-6057C920095B}"/>
              </a:ext>
            </a:extLst>
          </p:cNvPr>
          <p:cNvSpPr>
            <a:spLocks xmlns:a="http://schemas.openxmlformats.org/drawingml/2006/main" noGrp="1"/>
          </p:cNvSpPr>
          <p:nvPr/>
        </p:nvSpPr>
        <p:spPr>
          <a:xfrm xmlns:a="http://schemas.openxmlformats.org/drawingml/2006/main">
            <a:off x="1285875" y="4451985"/>
            <a:ext cx="3524250" cy="3771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D88A00"/>
                </a:solidFill>
              </a:defRPr>
            </a:pPr>
            <a:r>
              <a:rPr sz="1200" b="0" i="0">
                <a:solidFill>
                  <a:srgbClr val="D88A00"/>
                </a:solidFill>
              </a:rPr>
              <a:t>New tail: fresh tool result</a:t>
            </a:r>
          </a:p>
        </p:txBody>
      </p:sp>
      <p:sp>
        <p:nvSpPr>
          <p:cNvPr id="16" name="">
            <a:extLst xmlns:a="http://schemas.openxmlformats.org/drawingml/2006/main">
              <a:ext uri="{FF2B5EF4-FFF2-40B4-BE49-F238E27FC236}">
                <a16:creationId xmlns:a16="http://schemas.microsoft.com/office/drawing/2014/main" id="{5EFE6F94-A3A7-42BC-9ECE-565EE6244EB5}"/>
              </a:ext>
            </a:extLst>
          </p:cNvPr>
          <p:cNvSpPr>
            <a:spLocks xmlns:a="http://schemas.openxmlformats.org/drawingml/2006/main" noGrp="1"/>
          </p:cNvSpPr>
          <p:nvPr/>
        </p:nvSpPr>
        <p:spPr>
          <a:xfrm xmlns:a="http://schemas.openxmlformats.org/drawingml/2006/main">
            <a:off x="5429250" y="3238500"/>
            <a:ext cx="1143000" cy="0"/>
          </a:xfrm>
          <a:prstGeom xmlns:a="http://schemas.openxmlformats.org/drawingml/2006/main" prst="line">
            <a:avLst/>
          </a:prstGeom>
          <a:ln xmlns:a="http://schemas.openxmlformats.org/drawingml/2006/main" w="38100">
            <a:solidFill>
              <a:srgbClr val="138A43"/>
            </a:solidFill>
            <a:prstDash val="solid"/>
          </a:ln>
        </p:spPr>
      </p:sp>
      <p:sp>
        <p:nvSpPr>
          <p:cNvPr id="17" name="">
            <a:extLst xmlns:a="http://schemas.openxmlformats.org/drawingml/2006/main">
              <a:ext uri="{FF2B5EF4-FFF2-40B4-BE49-F238E27FC236}">
                <a16:creationId xmlns:a16="http://schemas.microsoft.com/office/drawing/2014/main" id="{DF8A1D2E-6357-4137-8FFE-36A6955A08F1}"/>
              </a:ext>
            </a:extLst>
          </p:cNvPr>
          <p:cNvSpPr>
            <a:spLocks xmlns:a="http://schemas.openxmlformats.org/drawingml/2006/main" noGrp="1"/>
          </p:cNvSpPr>
          <p:nvPr/>
        </p:nvSpPr>
        <p:spPr>
          <a:xfrm xmlns:a="http://schemas.openxmlformats.org/drawingml/2006/main">
            <a:off x="6858000" y="1752600"/>
            <a:ext cx="4000500" cy="1200150"/>
          </a:xfrm>
          <a:prstGeom xmlns:a="http://schemas.openxmlformats.org/drawingml/2006/main" prst="roundRect">
            <a:avLst>
              <a:gd name="adj" fmla="val 6349"/>
            </a:avLst>
          </a:prstGeom>
          <a:solidFill xmlns:a="http://schemas.openxmlformats.org/drawingml/2006/main">
            <a:srgbClr val="EEF6FF"/>
          </a:solidFill>
          <a:ln xmlns:a="http://schemas.openxmlformats.org/drawingml/2006/main" w="10478">
            <a:solidFill>
              <a:srgbClr val="138A43"/>
            </a:solidFill>
            <a:prstDash val="solid"/>
          </a:ln>
        </p:spPr>
      </p:sp>
      <p:sp>
        <p:nvSpPr>
          <p:cNvPr id="18" name="">
            <a:extLst xmlns:a="http://schemas.openxmlformats.org/drawingml/2006/main">
              <a:ext uri="{FF2B5EF4-FFF2-40B4-BE49-F238E27FC236}">
                <a16:creationId xmlns:a16="http://schemas.microsoft.com/office/drawing/2014/main" id="{A6D1597A-1DDD-462A-A48D-8BB66A83AA77}"/>
              </a:ext>
            </a:extLst>
          </p:cNvPr>
          <p:cNvSpPr>
            <a:spLocks xmlns:a="http://schemas.openxmlformats.org/drawingml/2006/main" noGrp="1"/>
          </p:cNvSpPr>
          <p:nvPr/>
        </p:nvSpPr>
        <p:spPr>
          <a:xfrm xmlns:a="http://schemas.openxmlformats.org/drawingml/2006/main">
            <a:off x="7124700" y="20002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138A43"/>
                </a:solidFill>
              </a:defRPr>
            </a:pPr>
            <a:r>
              <a:rPr sz="1950" b="1" i="0">
                <a:solidFill>
                  <a:srgbClr val="138A43"/>
                </a:solidFill>
              </a:rPr>
              <a:t>Cache read path</a:t>
            </a:r>
          </a:p>
        </p:txBody>
      </p:sp>
      <p:sp>
        <p:nvSpPr>
          <p:cNvPr id="19" name="">
            <a:extLst xmlns:a="http://schemas.openxmlformats.org/drawingml/2006/main">
              <a:ext uri="{FF2B5EF4-FFF2-40B4-BE49-F238E27FC236}">
                <a16:creationId xmlns:a16="http://schemas.microsoft.com/office/drawing/2014/main" id="{2467439A-8868-4C45-998C-D945438BC20F}"/>
              </a:ext>
            </a:extLst>
          </p:cNvPr>
          <p:cNvSpPr>
            <a:spLocks xmlns:a="http://schemas.openxmlformats.org/drawingml/2006/main" noGrp="1"/>
          </p:cNvSpPr>
          <p:nvPr/>
        </p:nvSpPr>
        <p:spPr>
          <a:xfrm xmlns:a="http://schemas.openxmlformats.org/drawingml/2006/main">
            <a:off x="7239000" y="2400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0">
                <a:solidFill>
                  <a:srgbClr val="061A45"/>
                </a:solidFill>
              </a:defRPr>
            </a:pPr>
            <a:r>
              <a:rPr sz="1350" b="0" i="0">
                <a:solidFill>
                  <a:srgbClr val="061A45"/>
                </a:solidFill>
              </a:rPr>
              <a:t>Repeated prefix is reused by the provider.</a:t>
            </a:r>
          </a:p>
        </p:txBody>
      </p:sp>
      <p:sp>
        <p:nvSpPr>
          <p:cNvPr id="20" name="">
            <a:extLst xmlns:a="http://schemas.openxmlformats.org/drawingml/2006/main">
              <a:ext uri="{FF2B5EF4-FFF2-40B4-BE49-F238E27FC236}">
                <a16:creationId xmlns:a16="http://schemas.microsoft.com/office/drawing/2014/main" id="{167A113B-1125-4164-948C-FB5D5CB75C74}"/>
              </a:ext>
            </a:extLst>
          </p:cNvPr>
          <p:cNvSpPr>
            <a:spLocks xmlns:a="http://schemas.openxmlformats.org/drawingml/2006/main" noGrp="1"/>
          </p:cNvSpPr>
          <p:nvPr/>
        </p:nvSpPr>
        <p:spPr>
          <a:xfrm xmlns:a="http://schemas.openxmlformats.org/drawingml/2006/main">
            <a:off x="6858000" y="3505200"/>
            <a:ext cx="4000500" cy="1200150"/>
          </a:xfrm>
          <a:prstGeom xmlns:a="http://schemas.openxmlformats.org/drawingml/2006/main" prst="roundRect">
            <a:avLst>
              <a:gd name="adj" fmla="val 6349"/>
            </a:avLst>
          </a:prstGeom>
          <a:solidFill xmlns:a="http://schemas.openxmlformats.org/drawingml/2006/main">
            <a:srgbClr val="FFF7DF"/>
          </a:solidFill>
          <a:ln xmlns:a="http://schemas.openxmlformats.org/drawingml/2006/main" w="10478">
            <a:solidFill>
              <a:srgbClr val="F0D891"/>
            </a:solidFill>
            <a:prstDash val="solid"/>
          </a:ln>
        </p:spPr>
      </p:sp>
      <p:sp>
        <p:nvSpPr>
          <p:cNvPr id="21" name="">
            <a:extLst xmlns:a="http://schemas.openxmlformats.org/drawingml/2006/main">
              <a:ext uri="{FF2B5EF4-FFF2-40B4-BE49-F238E27FC236}">
                <a16:creationId xmlns:a16="http://schemas.microsoft.com/office/drawing/2014/main" id="{7BE21C05-6D51-46E3-98E6-3FDE05E4FC1D}"/>
              </a:ext>
            </a:extLst>
          </p:cNvPr>
          <p:cNvSpPr>
            <a:spLocks xmlns:a="http://schemas.openxmlformats.org/drawingml/2006/main" noGrp="1"/>
          </p:cNvSpPr>
          <p:nvPr/>
        </p:nvSpPr>
        <p:spPr>
          <a:xfrm xmlns:a="http://schemas.openxmlformats.org/drawingml/2006/main">
            <a:off x="7124700" y="3752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D88A00"/>
                </a:solidFill>
              </a:defRPr>
            </a:pPr>
            <a:r>
              <a:rPr sz="1950" b="1" i="0">
                <a:solidFill>
                  <a:srgbClr val="D88A00"/>
                </a:solidFill>
              </a:rPr>
              <a:t>Normal input path</a:t>
            </a:r>
          </a:p>
        </p:txBody>
      </p:sp>
      <p:sp>
        <p:nvSpPr>
          <p:cNvPr id="22" name="">
            <a:extLst xmlns:a="http://schemas.openxmlformats.org/drawingml/2006/main">
              <a:ext uri="{FF2B5EF4-FFF2-40B4-BE49-F238E27FC236}">
                <a16:creationId xmlns:a16="http://schemas.microsoft.com/office/drawing/2014/main" id="{036BA45B-D1C8-4FDE-BBEE-F9A8CB5D40F0}"/>
              </a:ext>
            </a:extLst>
          </p:cNvPr>
          <p:cNvSpPr>
            <a:spLocks xmlns:a="http://schemas.openxmlformats.org/drawingml/2006/main" noGrp="1"/>
          </p:cNvSpPr>
          <p:nvPr/>
        </p:nvSpPr>
        <p:spPr>
          <a:xfrm xmlns:a="http://schemas.openxmlformats.org/drawingml/2006/main">
            <a:off x="7239000" y="41529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0">
                <a:solidFill>
                  <a:srgbClr val="061A45"/>
                </a:solidFill>
              </a:defRPr>
            </a:pPr>
            <a:r>
              <a:rPr sz="1350" b="0" i="0">
                <a:solidFill>
                  <a:srgbClr val="061A45"/>
                </a:solidFill>
              </a:rPr>
              <a:t>Changing tail is processed for this request.</a:t>
            </a:r>
          </a:p>
        </p:txBody>
      </p:sp>
      <p:sp>
        <p:nvSpPr>
          <p:cNvPr id="23" name="">
            <a:extLst xmlns:a="http://schemas.openxmlformats.org/drawingml/2006/main">
              <a:ext uri="{FF2B5EF4-FFF2-40B4-BE49-F238E27FC236}">
                <a16:creationId xmlns:a16="http://schemas.microsoft.com/office/drawing/2014/main" id="{EFA69572-5B5A-4468-981C-5154A518B0D1}"/>
              </a:ext>
            </a:extLst>
          </p:cNvPr>
          <p:cNvSpPr>
            <a:spLocks xmlns:a="http://schemas.openxmlformats.org/drawingml/2006/main" noGrp="1"/>
          </p:cNvSpPr>
          <p:nvPr/>
        </p:nvSpPr>
        <p:spPr>
          <a:xfrm xmlns:a="http://schemas.openxmlformats.org/drawingml/2006/main">
            <a:off x="1200150" y="5448300"/>
            <a:ext cx="97917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004AAD"/>
            </a:solidFill>
            <a:prstDash val="solid"/>
          </a:ln>
        </p:spPr>
      </p:sp>
      <p:sp>
        <p:nvSpPr>
          <p:cNvPr id="24" name="">
            <a:extLst xmlns:a="http://schemas.openxmlformats.org/drawingml/2006/main">
              <a:ext uri="{FF2B5EF4-FFF2-40B4-BE49-F238E27FC236}">
                <a16:creationId xmlns:a16="http://schemas.microsoft.com/office/drawing/2014/main" id="{AE551975-8A98-446F-B6C9-49A2774F64A2}"/>
              </a:ext>
            </a:extLst>
          </p:cNvPr>
          <p:cNvSpPr>
            <a:spLocks xmlns:a="http://schemas.openxmlformats.org/drawingml/2006/main" noGrp="1"/>
          </p:cNvSpPr>
          <p:nvPr/>
        </p:nvSpPr>
        <p:spPr>
          <a:xfrm xmlns:a="http://schemas.openxmlformats.org/drawingml/2006/main">
            <a:off x="1600200" y="56388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CC2B2B"/>
                </a:solidFill>
              </a:defRPr>
            </a:pPr>
            <a:r>
              <a:rPr sz="1500" b="1" i="0">
                <a:solidFill>
                  <a:srgbClr val="CC2B2B"/>
                </a:solidFill>
              </a:rPr>
              <a:t>Do not say: less paper was sent.</a:t>
            </a:r>
          </a:p>
        </p:txBody>
      </p:sp>
      <p:sp>
        <p:nvSpPr>
          <p:cNvPr id="25" name="">
            <a:extLst xmlns:a="http://schemas.openxmlformats.org/drawingml/2006/main">
              <a:ext uri="{FF2B5EF4-FFF2-40B4-BE49-F238E27FC236}">
                <a16:creationId xmlns:a16="http://schemas.microsoft.com/office/drawing/2014/main" id="{7146EEC5-44E2-4147-8D26-CD71B9346C5B}"/>
              </a:ext>
            </a:extLst>
          </p:cNvPr>
          <p:cNvSpPr>
            <a:spLocks xmlns:a="http://schemas.openxmlformats.org/drawingml/2006/main" noGrp="1"/>
          </p:cNvSpPr>
          <p:nvPr/>
        </p:nvSpPr>
        <p:spPr>
          <a:xfrm xmlns:a="http://schemas.openxmlformats.org/drawingml/2006/main">
            <a:off x="5314950" y="563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61A45"/>
                </a:solidFill>
              </a:defRPr>
            </a:pPr>
            <a:r>
              <a:rPr sz="1500" b="0" i="0">
                <a:solidFill>
                  <a:srgbClr val="061A45"/>
                </a:solidFill>
              </a:rPr>
              <a:t>Say: repeated paper sections were reused, while still counting as context.</a:t>
            </a:r>
          </a:p>
        </p:txBody>
      </p:sp>
    </p:spTree>
    <p:extLst>
      <p:ext uri="{BB962C8B-B14F-4D97-AF65-F5344CB8AC3E}">
        <p14:creationId xmlns:p14="http://schemas.microsoft.com/office/powerpoint/2010/main" val="1285130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A5C795-6271-4E1F-B58C-B5CFBDA86D6C}"/>
              </a:ext>
            </a:extLst>
          </p:cNvPr>
          <p:cNvSpPr>
            <a:spLocks xmlns:a="http://schemas.openxmlformats.org/drawingml/2006/main" noGrp="1"/>
          </p:cNvSpPr>
          <p:nvPr/>
        </p:nvSpPr>
        <p:spPr>
          <a:xfrm xmlns:a="http://schemas.openxmlformats.org/drawingml/2006/main">
            <a:off x="457200" y="266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Cache Write vs Cache Read</a:t>
            </a:r>
          </a:p>
        </p:txBody>
      </p:sp>
      <p:sp>
        <p:nvSpPr>
          <p:cNvPr id="2" name="">
            <a:extLst xmlns:a="http://schemas.openxmlformats.org/drawingml/2006/main">
              <a:ext uri="{FF2B5EF4-FFF2-40B4-BE49-F238E27FC236}">
                <a16:creationId xmlns:a16="http://schemas.microsoft.com/office/drawing/2014/main" id="{0C4560D6-14AE-44CA-8DA1-3C485057029B}"/>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Write creates reusable prefix processing; read hits it later.</a:t>
            </a:r>
          </a:p>
        </p:txBody>
      </p:sp>
      <p:sp>
        <p:nvSpPr>
          <p:cNvPr id="3" name="">
            <a:extLst xmlns:a="http://schemas.openxmlformats.org/drawingml/2006/main">
              <a:ext uri="{FF2B5EF4-FFF2-40B4-BE49-F238E27FC236}">
                <a16:creationId xmlns:a16="http://schemas.microsoft.com/office/drawing/2014/main" id="{F91CD6E0-3B59-41FB-BFB3-0A13279E34E7}"/>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98BD611B-2D90-42F1-87B6-0FE9F51DEB54}"/>
              </a:ext>
            </a:extLst>
          </p:cNvPr>
          <p:cNvSpPr>
            <a:spLocks xmlns:a="http://schemas.openxmlformats.org/drawingml/2006/main" noGrp="1"/>
          </p:cNvSpPr>
          <p:nvPr/>
        </p:nvSpPr>
        <p:spPr>
          <a:xfrm xmlns:a="http://schemas.openxmlformats.org/drawingml/2006/main">
            <a:off x="876300" y="1657350"/>
            <a:ext cx="4857750" cy="3333750"/>
          </a:xfrm>
          <a:prstGeom xmlns:a="http://schemas.openxmlformats.org/drawingml/2006/main" prst="roundRect">
            <a:avLst>
              <a:gd name="adj" fmla="val 2286"/>
            </a:avLst>
          </a:prstGeom>
          <a:solidFill xmlns:a="http://schemas.openxmlformats.org/drawingml/2006/main">
            <a:srgbClr val="F8FBFF"/>
          </a:solidFill>
          <a:ln xmlns:a="http://schemas.openxmlformats.org/drawingml/2006/main" w="10478">
            <a:solidFill>
              <a:srgbClr val="138A43"/>
            </a:solidFill>
            <a:prstDash val="solid"/>
          </a:ln>
        </p:spPr>
      </p:sp>
      <p:sp>
        <p:nvSpPr>
          <p:cNvPr id="5" name="">
            <a:extLst xmlns:a="http://schemas.openxmlformats.org/drawingml/2006/main">
              <a:ext uri="{FF2B5EF4-FFF2-40B4-BE49-F238E27FC236}">
                <a16:creationId xmlns:a16="http://schemas.microsoft.com/office/drawing/2014/main" id="{F1E114C2-F3A7-4E32-A916-1462367C596F}"/>
              </a:ext>
            </a:extLst>
          </p:cNvPr>
          <p:cNvSpPr>
            <a:spLocks xmlns:a="http://schemas.openxmlformats.org/drawingml/2006/main" noGrp="1"/>
          </p:cNvSpPr>
          <p:nvPr/>
        </p:nvSpPr>
        <p:spPr>
          <a:xfrm xmlns:a="http://schemas.openxmlformats.org/drawingml/2006/main">
            <a:off x="6457950" y="1657350"/>
            <a:ext cx="4857750" cy="3333750"/>
          </a:xfrm>
          <a:prstGeom xmlns:a="http://schemas.openxmlformats.org/drawingml/2006/main" prst="roundRect">
            <a:avLst>
              <a:gd name="adj" fmla="val 2286"/>
            </a:avLst>
          </a:prstGeom>
          <a:solidFill xmlns:a="http://schemas.openxmlformats.org/drawingml/2006/main">
            <a:srgbClr val="EEF6FF"/>
          </a:solidFill>
          <a:ln xmlns:a="http://schemas.openxmlformats.org/drawingml/2006/main" w="10478">
            <a:solidFill>
              <a:srgbClr val="004AAD"/>
            </a:solidFill>
            <a:prstDash val="solid"/>
          </a:ln>
        </p:spPr>
      </p:sp>
      <p:sp>
        <p:nvSpPr>
          <p:cNvPr id="6" name="">
            <a:extLst xmlns:a="http://schemas.openxmlformats.org/drawingml/2006/main">
              <a:ext uri="{FF2B5EF4-FFF2-40B4-BE49-F238E27FC236}">
                <a16:creationId xmlns:a16="http://schemas.microsoft.com/office/drawing/2014/main" id="{CF0FFC20-33C6-4848-8D02-E83C20FC3DBE}"/>
              </a:ext>
            </a:extLst>
          </p:cNvPr>
          <p:cNvSpPr>
            <a:spLocks xmlns:a="http://schemas.openxmlformats.org/drawingml/2006/main" noGrp="1"/>
          </p:cNvSpPr>
          <p:nvPr/>
        </p:nvSpPr>
        <p:spPr>
          <a:xfrm xmlns:a="http://schemas.openxmlformats.org/drawingml/2006/main">
            <a:off x="1181100" y="19240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138A43"/>
                </a:solidFill>
              </a:defRPr>
            </a:pPr>
            <a:r>
              <a:rPr sz="2250" b="1" i="0">
                <a:solidFill>
                  <a:srgbClr val="138A43"/>
                </a:solidFill>
              </a:rPr>
              <a:t>Cache Write</a:t>
            </a:r>
          </a:p>
        </p:txBody>
      </p:sp>
      <p:sp>
        <p:nvSpPr>
          <p:cNvPr id="7" name="">
            <a:extLst xmlns:a="http://schemas.openxmlformats.org/drawingml/2006/main">
              <a:ext uri="{FF2B5EF4-FFF2-40B4-BE49-F238E27FC236}">
                <a16:creationId xmlns:a16="http://schemas.microsoft.com/office/drawing/2014/main" id="{6D68C9E9-763E-4726-AFB6-67688E795E22}"/>
              </a:ext>
            </a:extLst>
          </p:cNvPr>
          <p:cNvSpPr>
            <a:spLocks xmlns:a="http://schemas.openxmlformats.org/drawingml/2006/main" noGrp="1"/>
          </p:cNvSpPr>
          <p:nvPr/>
        </p:nvSpPr>
        <p:spPr>
          <a:xfrm xmlns:a="http://schemas.openxmlformats.org/drawingml/2006/main">
            <a:off x="6762750" y="19240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i="0">
                <a:solidFill>
                  <a:srgbClr val="004AAD"/>
                </a:solidFill>
              </a:defRPr>
            </a:pPr>
            <a:r>
              <a:rPr sz="2250" b="1" i="0">
                <a:solidFill>
                  <a:srgbClr val="004AAD"/>
                </a:solidFill>
              </a:rPr>
              <a:t>Cache Read</a:t>
            </a:r>
          </a:p>
        </p:txBody>
      </p:sp>
      <p:sp>
        <p:nvSpPr>
          <p:cNvPr id="8" name="">
            <a:extLst xmlns:a="http://schemas.openxmlformats.org/drawingml/2006/main">
              <a:ext uri="{FF2B5EF4-FFF2-40B4-BE49-F238E27FC236}">
                <a16:creationId xmlns:a16="http://schemas.microsoft.com/office/drawing/2014/main" id="{082C9A67-D0D1-4224-BC42-ECD2C9BD6F51}"/>
              </a:ext>
            </a:extLst>
          </p:cNvPr>
          <p:cNvSpPr>
            <a:spLocks xmlns:a="http://schemas.openxmlformats.org/drawingml/2006/main" noGrp="1"/>
          </p:cNvSpPr>
          <p:nvPr/>
        </p:nvSpPr>
        <p:spPr>
          <a:xfrm xmlns:a="http://schemas.openxmlformats.org/drawingml/2006/main">
            <a:off x="1143000" y="24955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8A43"/>
                </a:solidFill>
              </a:defRPr>
            </a:pPr>
            <a:r>
              <a:rPr sz="1200" b="1" i="0">
                <a:solidFill>
                  <a:srgbClr val="138A43"/>
                </a:solidFill>
              </a:rPr>
              <a:t>When</a:t>
            </a:r>
          </a:p>
        </p:txBody>
      </p:sp>
      <p:sp>
        <p:nvSpPr>
          <p:cNvPr id="9" name="">
            <a:extLst xmlns:a="http://schemas.openxmlformats.org/drawingml/2006/main">
              <a:ext uri="{FF2B5EF4-FFF2-40B4-BE49-F238E27FC236}">
                <a16:creationId xmlns:a16="http://schemas.microsoft.com/office/drawing/2014/main" id="{F877EDF7-829E-4711-8869-8C9518EA5D2D}"/>
              </a:ext>
            </a:extLst>
          </p:cNvPr>
          <p:cNvSpPr>
            <a:spLocks xmlns:a="http://schemas.openxmlformats.org/drawingml/2006/main" noGrp="1"/>
          </p:cNvSpPr>
          <p:nvPr/>
        </p:nvSpPr>
        <p:spPr>
          <a:xfrm xmlns:a="http://schemas.openxmlformats.org/drawingml/2006/main">
            <a:off x="2247900" y="2476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First eligible repeated prefix is processed</a:t>
            </a:r>
          </a:p>
        </p:txBody>
      </p:sp>
      <p:sp>
        <p:nvSpPr>
          <p:cNvPr id="10" name="">
            <a:extLst xmlns:a="http://schemas.openxmlformats.org/drawingml/2006/main">
              <a:ext uri="{FF2B5EF4-FFF2-40B4-BE49-F238E27FC236}">
                <a16:creationId xmlns:a16="http://schemas.microsoft.com/office/drawing/2014/main" id="{260CB471-D5B0-48E6-8FC8-E991AC865AA7}"/>
              </a:ext>
            </a:extLst>
          </p:cNvPr>
          <p:cNvSpPr>
            <a:spLocks xmlns:a="http://schemas.openxmlformats.org/drawingml/2006/main" noGrp="1"/>
          </p:cNvSpPr>
          <p:nvPr/>
        </p:nvSpPr>
        <p:spPr>
          <a:xfrm xmlns:a="http://schemas.openxmlformats.org/drawingml/2006/main">
            <a:off x="1143000" y="3048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8A43"/>
                </a:solidFill>
              </a:defRPr>
            </a:pPr>
            <a:r>
              <a:rPr sz="1200" b="1" i="0">
                <a:solidFill>
                  <a:srgbClr val="138A43"/>
                </a:solidFill>
              </a:rPr>
              <a:t>Paper metaphor</a:t>
            </a:r>
          </a:p>
        </p:txBody>
      </p:sp>
      <p:sp>
        <p:nvSpPr>
          <p:cNvPr id="11" name="">
            <a:extLst xmlns:a="http://schemas.openxmlformats.org/drawingml/2006/main">
              <a:ext uri="{FF2B5EF4-FFF2-40B4-BE49-F238E27FC236}">
                <a16:creationId xmlns:a16="http://schemas.microsoft.com/office/drawing/2014/main" id="{28C06566-45F4-4E46-893D-C9FC564620BB}"/>
              </a:ext>
            </a:extLst>
          </p:cNvPr>
          <p:cNvSpPr>
            <a:spLocks xmlns:a="http://schemas.openxmlformats.org/drawingml/2006/main" noGrp="1"/>
          </p:cNvSpPr>
          <p:nvPr/>
        </p:nvSpPr>
        <p:spPr>
          <a:xfrm xmlns:a="http://schemas.openxmlformats.org/drawingml/2006/main">
            <a:off x="2247900" y="30289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The repeated top of the paper gets indexed</a:t>
            </a:r>
          </a:p>
        </p:txBody>
      </p:sp>
      <p:sp>
        <p:nvSpPr>
          <p:cNvPr id="12" name="">
            <a:extLst xmlns:a="http://schemas.openxmlformats.org/drawingml/2006/main">
              <a:ext uri="{FF2B5EF4-FFF2-40B4-BE49-F238E27FC236}">
                <a16:creationId xmlns:a16="http://schemas.microsoft.com/office/drawing/2014/main" id="{79960E25-A208-410A-9157-3067C7034391}"/>
              </a:ext>
            </a:extLst>
          </p:cNvPr>
          <p:cNvSpPr>
            <a:spLocks xmlns:a="http://schemas.openxmlformats.org/drawingml/2006/main" noGrp="1"/>
          </p:cNvSpPr>
          <p:nvPr/>
        </p:nvSpPr>
        <p:spPr>
          <a:xfrm xmlns:a="http://schemas.openxmlformats.org/drawingml/2006/main">
            <a:off x="1143000" y="36004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8A43"/>
                </a:solidFill>
              </a:defRPr>
            </a:pPr>
            <a:r>
              <a:rPr sz="1200" b="1" i="0">
                <a:solidFill>
                  <a:srgbClr val="138A43"/>
                </a:solidFill>
              </a:rPr>
              <a:t>Effect</a:t>
            </a:r>
          </a:p>
        </p:txBody>
      </p:sp>
      <p:sp>
        <p:nvSpPr>
          <p:cNvPr id="13" name="">
            <a:extLst xmlns:a="http://schemas.openxmlformats.org/drawingml/2006/main">
              <a:ext uri="{FF2B5EF4-FFF2-40B4-BE49-F238E27FC236}">
                <a16:creationId xmlns:a16="http://schemas.microsoft.com/office/drawing/2014/main" id="{FF6732B6-A1E0-428E-9F41-A064024C3103}"/>
              </a:ext>
            </a:extLst>
          </p:cNvPr>
          <p:cNvSpPr>
            <a:spLocks xmlns:a="http://schemas.openxmlformats.org/drawingml/2006/main" noGrp="1"/>
          </p:cNvSpPr>
          <p:nvPr/>
        </p:nvSpPr>
        <p:spPr>
          <a:xfrm xmlns:a="http://schemas.openxmlformats.org/drawingml/2006/main">
            <a:off x="2247900" y="3581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May create cache_creation_input_tokens</a:t>
            </a:r>
          </a:p>
        </p:txBody>
      </p:sp>
      <p:sp>
        <p:nvSpPr>
          <p:cNvPr id="14" name="">
            <a:extLst xmlns:a="http://schemas.openxmlformats.org/drawingml/2006/main">
              <a:ext uri="{FF2B5EF4-FFF2-40B4-BE49-F238E27FC236}">
                <a16:creationId xmlns:a16="http://schemas.microsoft.com/office/drawing/2014/main" id="{59E260D5-B3D0-4976-BEE7-C2853306EBF8}"/>
              </a:ext>
            </a:extLst>
          </p:cNvPr>
          <p:cNvSpPr>
            <a:spLocks xmlns:a="http://schemas.openxmlformats.org/drawingml/2006/main" noGrp="1"/>
          </p:cNvSpPr>
          <p:nvPr/>
        </p:nvSpPr>
        <p:spPr>
          <a:xfrm xmlns:a="http://schemas.openxmlformats.org/drawingml/2006/main">
            <a:off x="1143000" y="41529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8A43"/>
                </a:solidFill>
              </a:defRPr>
            </a:pPr>
            <a:r>
              <a:rPr sz="1200" b="1" i="0">
                <a:solidFill>
                  <a:srgbClr val="138A43"/>
                </a:solidFill>
              </a:rPr>
              <a:t>Does not change</a:t>
            </a:r>
          </a:p>
        </p:txBody>
      </p:sp>
      <p:sp>
        <p:nvSpPr>
          <p:cNvPr id="15" name="">
            <a:extLst xmlns:a="http://schemas.openxmlformats.org/drawingml/2006/main">
              <a:ext uri="{FF2B5EF4-FFF2-40B4-BE49-F238E27FC236}">
                <a16:creationId xmlns:a16="http://schemas.microsoft.com/office/drawing/2014/main" id="{F5A7C9C8-23D0-4060-8A06-C22A88533843}"/>
              </a:ext>
            </a:extLst>
          </p:cNvPr>
          <p:cNvSpPr>
            <a:spLocks xmlns:a="http://schemas.openxmlformats.org/drawingml/2006/main" noGrp="1"/>
          </p:cNvSpPr>
          <p:nvPr/>
        </p:nvSpPr>
        <p:spPr>
          <a:xfrm xmlns:a="http://schemas.openxmlformats.org/drawingml/2006/main">
            <a:off x="2247900" y="4133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The model still receives visible context</a:t>
            </a:r>
          </a:p>
        </p:txBody>
      </p:sp>
      <p:sp>
        <p:nvSpPr>
          <p:cNvPr id="16" name="">
            <a:extLst xmlns:a="http://schemas.openxmlformats.org/drawingml/2006/main">
              <a:ext uri="{FF2B5EF4-FFF2-40B4-BE49-F238E27FC236}">
                <a16:creationId xmlns:a16="http://schemas.microsoft.com/office/drawing/2014/main" id="{DB24C5ED-C816-4C37-944B-857086E4A4F1}"/>
              </a:ext>
            </a:extLst>
          </p:cNvPr>
          <p:cNvSpPr>
            <a:spLocks xmlns:a="http://schemas.openxmlformats.org/drawingml/2006/main" noGrp="1"/>
          </p:cNvSpPr>
          <p:nvPr/>
        </p:nvSpPr>
        <p:spPr>
          <a:xfrm xmlns:a="http://schemas.openxmlformats.org/drawingml/2006/main">
            <a:off x="6724650" y="24955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4AAD"/>
                </a:solidFill>
              </a:defRPr>
            </a:pPr>
            <a:r>
              <a:rPr sz="1200" b="1" i="0">
                <a:solidFill>
                  <a:srgbClr val="004AAD"/>
                </a:solidFill>
              </a:rPr>
              <a:t>When</a:t>
            </a:r>
          </a:p>
        </p:txBody>
      </p:sp>
      <p:sp>
        <p:nvSpPr>
          <p:cNvPr id="17" name="">
            <a:extLst xmlns:a="http://schemas.openxmlformats.org/drawingml/2006/main">
              <a:ext uri="{FF2B5EF4-FFF2-40B4-BE49-F238E27FC236}">
                <a16:creationId xmlns:a16="http://schemas.microsoft.com/office/drawing/2014/main" id="{1AF55DB8-8EF3-499E-99FE-524734D031B1}"/>
              </a:ext>
            </a:extLst>
          </p:cNvPr>
          <p:cNvSpPr>
            <a:spLocks xmlns:a="http://schemas.openxmlformats.org/drawingml/2006/main" noGrp="1"/>
          </p:cNvSpPr>
          <p:nvPr/>
        </p:nvSpPr>
        <p:spPr>
          <a:xfrm xmlns:a="http://schemas.openxmlformats.org/drawingml/2006/main">
            <a:off x="7829550" y="2476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Later call repeats the same cached prefix</a:t>
            </a:r>
          </a:p>
        </p:txBody>
      </p:sp>
      <p:sp>
        <p:nvSpPr>
          <p:cNvPr id="18" name="">
            <a:extLst xmlns:a="http://schemas.openxmlformats.org/drawingml/2006/main">
              <a:ext uri="{FF2B5EF4-FFF2-40B4-BE49-F238E27FC236}">
                <a16:creationId xmlns:a16="http://schemas.microsoft.com/office/drawing/2014/main" id="{43D9FE8F-F733-4E17-9300-D30A2B80F03F}"/>
              </a:ext>
            </a:extLst>
          </p:cNvPr>
          <p:cNvSpPr>
            <a:spLocks xmlns:a="http://schemas.openxmlformats.org/drawingml/2006/main" noGrp="1"/>
          </p:cNvSpPr>
          <p:nvPr/>
        </p:nvSpPr>
        <p:spPr>
          <a:xfrm xmlns:a="http://schemas.openxmlformats.org/drawingml/2006/main">
            <a:off x="6724650" y="3048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4AAD"/>
                </a:solidFill>
              </a:defRPr>
            </a:pPr>
            <a:r>
              <a:rPr sz="1200" b="1" i="0">
                <a:solidFill>
                  <a:srgbClr val="004AAD"/>
                </a:solidFill>
              </a:rPr>
              <a:t>Paper metaphor</a:t>
            </a:r>
          </a:p>
        </p:txBody>
      </p:sp>
      <p:sp>
        <p:nvSpPr>
          <p:cNvPr id="19" name="">
            <a:extLst xmlns:a="http://schemas.openxmlformats.org/drawingml/2006/main">
              <a:ext uri="{FF2B5EF4-FFF2-40B4-BE49-F238E27FC236}">
                <a16:creationId xmlns:a16="http://schemas.microsoft.com/office/drawing/2014/main" id="{440E07FA-C7BC-4C00-A757-813EF4BC1FCB}"/>
              </a:ext>
            </a:extLst>
          </p:cNvPr>
          <p:cNvSpPr>
            <a:spLocks xmlns:a="http://schemas.openxmlformats.org/drawingml/2006/main" noGrp="1"/>
          </p:cNvSpPr>
          <p:nvPr/>
        </p:nvSpPr>
        <p:spPr>
          <a:xfrm xmlns:a="http://schemas.openxmlformats.org/drawingml/2006/main">
            <a:off x="7829550" y="30289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The indexed top of the paper is reused</a:t>
            </a:r>
          </a:p>
        </p:txBody>
      </p:sp>
      <p:sp>
        <p:nvSpPr>
          <p:cNvPr id="20" name="">
            <a:extLst xmlns:a="http://schemas.openxmlformats.org/drawingml/2006/main">
              <a:ext uri="{FF2B5EF4-FFF2-40B4-BE49-F238E27FC236}">
                <a16:creationId xmlns:a16="http://schemas.microsoft.com/office/drawing/2014/main" id="{4ED555A0-39AA-4305-8540-30D493337672}"/>
              </a:ext>
            </a:extLst>
          </p:cNvPr>
          <p:cNvSpPr>
            <a:spLocks xmlns:a="http://schemas.openxmlformats.org/drawingml/2006/main" noGrp="1"/>
          </p:cNvSpPr>
          <p:nvPr/>
        </p:nvSpPr>
        <p:spPr>
          <a:xfrm xmlns:a="http://schemas.openxmlformats.org/drawingml/2006/main">
            <a:off x="6724650" y="36004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4AAD"/>
                </a:solidFill>
              </a:defRPr>
            </a:pPr>
            <a:r>
              <a:rPr sz="1200" b="1" i="0">
                <a:solidFill>
                  <a:srgbClr val="004AAD"/>
                </a:solidFill>
              </a:rPr>
              <a:t>Effect</a:t>
            </a:r>
          </a:p>
        </p:txBody>
      </p:sp>
      <p:sp>
        <p:nvSpPr>
          <p:cNvPr id="21" name="">
            <a:extLst xmlns:a="http://schemas.openxmlformats.org/drawingml/2006/main">
              <a:ext uri="{FF2B5EF4-FFF2-40B4-BE49-F238E27FC236}">
                <a16:creationId xmlns:a16="http://schemas.microsoft.com/office/drawing/2014/main" id="{3438888A-9E63-43B0-9BAE-A55012736681}"/>
              </a:ext>
            </a:extLst>
          </p:cNvPr>
          <p:cNvSpPr>
            <a:spLocks xmlns:a="http://schemas.openxmlformats.org/drawingml/2006/main" noGrp="1"/>
          </p:cNvSpPr>
          <p:nvPr/>
        </p:nvSpPr>
        <p:spPr>
          <a:xfrm xmlns:a="http://schemas.openxmlformats.org/drawingml/2006/main">
            <a:off x="7829550" y="3581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May create cache_read_input_tokens</a:t>
            </a:r>
          </a:p>
        </p:txBody>
      </p:sp>
      <p:sp>
        <p:nvSpPr>
          <p:cNvPr id="22" name="">
            <a:extLst xmlns:a="http://schemas.openxmlformats.org/drawingml/2006/main">
              <a:ext uri="{FF2B5EF4-FFF2-40B4-BE49-F238E27FC236}">
                <a16:creationId xmlns:a16="http://schemas.microsoft.com/office/drawing/2014/main" id="{93FCDD06-CF38-4F4A-86A4-B6E8C466833E}"/>
              </a:ext>
            </a:extLst>
          </p:cNvPr>
          <p:cNvSpPr>
            <a:spLocks xmlns:a="http://schemas.openxmlformats.org/drawingml/2006/main" noGrp="1"/>
          </p:cNvSpPr>
          <p:nvPr/>
        </p:nvSpPr>
        <p:spPr>
          <a:xfrm xmlns:a="http://schemas.openxmlformats.org/drawingml/2006/main">
            <a:off x="6724650" y="41529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4AAD"/>
                </a:solidFill>
              </a:defRPr>
            </a:pPr>
            <a:r>
              <a:rPr sz="1200" b="1" i="0">
                <a:solidFill>
                  <a:srgbClr val="004AAD"/>
                </a:solidFill>
              </a:rPr>
              <a:t>Does not change</a:t>
            </a:r>
          </a:p>
        </p:txBody>
      </p:sp>
      <p:sp>
        <p:nvSpPr>
          <p:cNvPr id="23" name="">
            <a:extLst xmlns:a="http://schemas.openxmlformats.org/drawingml/2006/main">
              <a:ext uri="{FF2B5EF4-FFF2-40B4-BE49-F238E27FC236}">
                <a16:creationId xmlns:a16="http://schemas.microsoft.com/office/drawing/2014/main" id="{69EF6553-DBB8-4F3A-8A53-6BE638E1ACB5}"/>
              </a:ext>
            </a:extLst>
          </p:cNvPr>
          <p:cNvSpPr>
            <a:spLocks xmlns:a="http://schemas.openxmlformats.org/drawingml/2006/main" noGrp="1"/>
          </p:cNvSpPr>
          <p:nvPr/>
        </p:nvSpPr>
        <p:spPr>
          <a:xfrm xmlns:a="http://schemas.openxmlformats.org/drawingml/2006/main">
            <a:off x="7829550" y="4133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Cached tokens still represent context</a:t>
            </a:r>
          </a:p>
        </p:txBody>
      </p:sp>
      <p:sp>
        <p:nvSpPr>
          <p:cNvPr id="24" name="">
            <a:extLst xmlns:a="http://schemas.openxmlformats.org/drawingml/2006/main">
              <a:ext uri="{FF2B5EF4-FFF2-40B4-BE49-F238E27FC236}">
                <a16:creationId xmlns:a16="http://schemas.microsoft.com/office/drawing/2014/main" id="{A7A1D6C9-3F7F-4F5D-A616-20B217545645}"/>
              </a:ext>
            </a:extLst>
          </p:cNvPr>
          <p:cNvSpPr>
            <a:spLocks xmlns:a="http://schemas.openxmlformats.org/drawingml/2006/main" noGrp="1"/>
          </p:cNvSpPr>
          <p:nvPr/>
        </p:nvSpPr>
        <p:spPr>
          <a:xfrm xmlns:a="http://schemas.openxmlformats.org/drawingml/2006/main">
            <a:off x="1428750" y="5429250"/>
            <a:ext cx="9334500" cy="609600"/>
          </a:xfrm>
          <a:prstGeom xmlns:a="http://schemas.openxmlformats.org/drawingml/2006/main" prst="roundRect">
            <a:avLst>
              <a:gd name="adj" fmla="val 12500"/>
            </a:avLst>
          </a:prstGeom>
          <a:solidFill xmlns:a="http://schemas.openxmlformats.org/drawingml/2006/main">
            <a:srgbClr val="FFF7DF"/>
          </a:solidFill>
          <a:ln xmlns:a="http://schemas.openxmlformats.org/drawingml/2006/main" w="10478">
            <a:solidFill>
              <a:srgbClr val="F0D891"/>
            </a:solidFill>
            <a:prstDash val="solid"/>
          </a:ln>
        </p:spPr>
      </p:sp>
      <p:sp>
        <p:nvSpPr>
          <p:cNvPr id="25" name="">
            <a:extLst xmlns:a="http://schemas.openxmlformats.org/drawingml/2006/main">
              <a:ext uri="{FF2B5EF4-FFF2-40B4-BE49-F238E27FC236}">
                <a16:creationId xmlns:a16="http://schemas.microsoft.com/office/drawing/2014/main" id="{B94E2DC4-81B1-4F6C-AABB-E9274985BB1A}"/>
              </a:ext>
            </a:extLst>
          </p:cNvPr>
          <p:cNvSpPr>
            <a:spLocks xmlns:a="http://schemas.openxmlformats.org/drawingml/2006/main" noGrp="1"/>
          </p:cNvSpPr>
          <p:nvPr/>
        </p:nvSpPr>
        <p:spPr>
          <a:xfrm xmlns:a="http://schemas.openxmlformats.org/drawingml/2006/main">
            <a:off x="1809750" y="5619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D88A00"/>
                </a:solidFill>
              </a:defRPr>
            </a:pPr>
            <a:r>
              <a:rPr sz="1500" b="1" i="0">
                <a:solidFill>
                  <a:srgbClr val="D88A00"/>
                </a:solidFill>
              </a:rPr>
              <a:t>Provider detail</a:t>
            </a:r>
          </a:p>
        </p:txBody>
      </p:sp>
      <p:sp>
        <p:nvSpPr>
          <p:cNvPr id="26" name="">
            <a:extLst xmlns:a="http://schemas.openxmlformats.org/drawingml/2006/main">
              <a:ext uri="{FF2B5EF4-FFF2-40B4-BE49-F238E27FC236}">
                <a16:creationId xmlns:a16="http://schemas.microsoft.com/office/drawing/2014/main" id="{0B43FA12-890E-4F33-8CD3-41D93364F687}"/>
              </a:ext>
            </a:extLst>
          </p:cNvPr>
          <p:cNvSpPr>
            <a:spLocks xmlns:a="http://schemas.openxmlformats.org/drawingml/2006/main" noGrp="1"/>
          </p:cNvSpPr>
          <p:nvPr/>
        </p:nvSpPr>
        <p:spPr>
          <a:xfrm xmlns:a="http://schemas.openxmlformats.org/drawingml/2006/main">
            <a:off x="3657600" y="5619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061A45"/>
                </a:solidFill>
              </a:defRPr>
            </a:pPr>
            <a:r>
              <a:rPr sz="1425" b="0" i="0">
                <a:solidFill>
                  <a:srgbClr val="061A45"/>
                </a:solidFill>
              </a:rPr>
              <a:t>Anthropic exposes write/read token fields. OpenAI exposes cached_tokens for cache hits.</a:t>
            </a:r>
          </a:p>
        </p:txBody>
      </p:sp>
    </p:spTree>
    <p:extLst>
      <p:ext uri="{BB962C8B-B14F-4D97-AF65-F5344CB8AC3E}">
        <p14:creationId xmlns:p14="http://schemas.microsoft.com/office/powerpoint/2010/main" val="1584193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A45D1A-F057-4209-8B1A-9468E1476716}"/>
              </a:ext>
            </a:extLst>
          </p:cNvPr>
          <p:cNvSpPr>
            <a:spLocks xmlns:a="http://schemas.openxmlformats.org/drawingml/2006/main" noGrp="1"/>
          </p:cNvSpPr>
          <p:nvPr/>
        </p:nvSpPr>
        <p:spPr>
          <a:xfrm xmlns:a="http://schemas.openxmlformats.org/drawingml/2006/main">
            <a:off x="457200" y="266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Stable Prefix, Changing Tail</a:t>
            </a:r>
          </a:p>
        </p:txBody>
      </p:sp>
      <p:sp>
        <p:nvSpPr>
          <p:cNvPr id="2" name="">
            <a:extLst xmlns:a="http://schemas.openxmlformats.org/drawingml/2006/main">
              <a:ext uri="{FF2B5EF4-FFF2-40B4-BE49-F238E27FC236}">
                <a16:creationId xmlns:a16="http://schemas.microsoft.com/office/drawing/2014/main" id="{3B571EF6-0D13-4F95-91B1-4A67D4468A81}"/>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Put repeated content first; let changing content live later.</a:t>
            </a:r>
          </a:p>
        </p:txBody>
      </p:sp>
      <p:sp>
        <p:nvSpPr>
          <p:cNvPr id="3" name="">
            <a:extLst xmlns:a="http://schemas.openxmlformats.org/drawingml/2006/main">
              <a:ext uri="{FF2B5EF4-FFF2-40B4-BE49-F238E27FC236}">
                <a16:creationId xmlns:a16="http://schemas.microsoft.com/office/drawing/2014/main" id="{E72D7F47-ECCE-495C-A445-684F81EC6F84}"/>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07EAA1B6-63F7-4F91-9069-495CEEB8785E}"/>
              </a:ext>
            </a:extLst>
          </p:cNvPr>
          <p:cNvSpPr>
            <a:spLocks xmlns:a="http://schemas.openxmlformats.org/drawingml/2006/main" noGrp="1"/>
          </p:cNvSpPr>
          <p:nvPr/>
        </p:nvSpPr>
        <p:spPr>
          <a:xfrm xmlns:a="http://schemas.openxmlformats.org/drawingml/2006/main">
            <a:off x="1524000" y="1562100"/>
            <a:ext cx="409575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0478">
            <a:solidFill>
              <a:srgbClr val="B9D4F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E292D93-F043-464E-81F6-D268BD9F323D}"/>
              </a:ext>
            </a:extLst>
          </p:cNvPr>
          <p:cNvSpPr>
            <a:spLocks xmlns:a="http://schemas.openxmlformats.org/drawingml/2006/main" noGrp="1"/>
          </p:cNvSpPr>
          <p:nvPr/>
        </p:nvSpPr>
        <p:spPr>
          <a:xfrm xmlns:a="http://schemas.openxmlformats.org/drawingml/2006/main">
            <a:off x="1676400" y="1676400"/>
            <a:ext cx="3790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4AAD"/>
                </a:solidFill>
              </a:defRPr>
            </a:pPr>
            <a:r>
              <a:rPr sz="1275" b="1" i="0">
                <a:solidFill>
                  <a:srgbClr val="004AAD"/>
                </a:solidFill>
              </a:rPr>
              <a:t>Good cache shape</a:t>
            </a:r>
          </a:p>
        </p:txBody>
      </p:sp>
      <p:sp>
        <p:nvSpPr>
          <p:cNvPr id="6" name="">
            <a:extLst xmlns:a="http://schemas.openxmlformats.org/drawingml/2006/main">
              <a:ext uri="{FF2B5EF4-FFF2-40B4-BE49-F238E27FC236}">
                <a16:creationId xmlns:a16="http://schemas.microsoft.com/office/drawing/2014/main" id="{103227A3-2357-4A2C-A1F7-D0EE9FE5F05F}"/>
              </a:ext>
            </a:extLst>
          </p:cNvPr>
          <p:cNvSpPr>
            <a:spLocks xmlns:a="http://schemas.openxmlformats.org/drawingml/2006/main" noGrp="1"/>
          </p:cNvSpPr>
          <p:nvPr/>
        </p:nvSpPr>
        <p:spPr>
          <a:xfrm xmlns:a="http://schemas.openxmlformats.org/drawingml/2006/main">
            <a:off x="1695450" y="2019300"/>
            <a:ext cx="3752850" cy="567690"/>
          </a:xfrm>
          <a:prstGeom xmlns:a="http://schemas.openxmlformats.org/drawingml/2006/main" prst="roundRect">
            <a:avLst>
              <a:gd name="adj" fmla="val 10067"/>
            </a:avLst>
          </a:prstGeom>
          <a:solidFill xmlns:a="http://schemas.openxmlformats.org/drawingml/2006/main">
            <a:srgbClr val="E8F1FF"/>
          </a:solidFill>
          <a:ln xmlns:a="http://schemas.openxmlformats.org/drawingml/2006/main" w="10478">
            <a:solidFill>
              <a:srgbClr val="D7E6FB"/>
            </a:solidFill>
            <a:prstDash val="solid"/>
          </a:ln>
        </p:spPr>
      </p:sp>
      <p:sp>
        <p:nvSpPr>
          <p:cNvPr id="7" name="">
            <a:extLst xmlns:a="http://schemas.openxmlformats.org/drawingml/2006/main">
              <a:ext uri="{FF2B5EF4-FFF2-40B4-BE49-F238E27FC236}">
                <a16:creationId xmlns:a16="http://schemas.microsoft.com/office/drawing/2014/main" id="{E61E357D-4917-4417-B3D9-84A31232BA4F}"/>
              </a:ext>
            </a:extLst>
          </p:cNvPr>
          <p:cNvSpPr>
            <a:spLocks xmlns:a="http://schemas.openxmlformats.org/drawingml/2006/main" noGrp="1"/>
          </p:cNvSpPr>
          <p:nvPr/>
        </p:nvSpPr>
        <p:spPr>
          <a:xfrm xmlns:a="http://schemas.openxmlformats.org/drawingml/2006/main">
            <a:off x="1809750" y="2105025"/>
            <a:ext cx="352425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Stable: system instructions</a:t>
            </a:r>
          </a:p>
        </p:txBody>
      </p:sp>
      <p:sp>
        <p:nvSpPr>
          <p:cNvPr id="8" name="">
            <a:extLst xmlns:a="http://schemas.openxmlformats.org/drawingml/2006/main">
              <a:ext uri="{FF2B5EF4-FFF2-40B4-BE49-F238E27FC236}">
                <a16:creationId xmlns:a16="http://schemas.microsoft.com/office/drawing/2014/main" id="{51901110-076C-41A5-BDAC-4B2E422452EF}"/>
              </a:ext>
            </a:extLst>
          </p:cNvPr>
          <p:cNvSpPr>
            <a:spLocks xmlns:a="http://schemas.openxmlformats.org/drawingml/2006/main" noGrp="1"/>
          </p:cNvSpPr>
          <p:nvPr/>
        </p:nvSpPr>
        <p:spPr>
          <a:xfrm xmlns:a="http://schemas.openxmlformats.org/drawingml/2006/main">
            <a:off x="1695450" y="2663190"/>
            <a:ext cx="3752850" cy="567690"/>
          </a:xfrm>
          <a:prstGeom xmlns:a="http://schemas.openxmlformats.org/drawingml/2006/main" prst="roundRect">
            <a:avLst>
              <a:gd name="adj" fmla="val 10067"/>
            </a:avLst>
          </a:prstGeom>
          <a:solidFill xmlns:a="http://schemas.openxmlformats.org/drawingml/2006/main">
            <a:srgbClr val="E8F1FF"/>
          </a:solidFill>
          <a:ln xmlns:a="http://schemas.openxmlformats.org/drawingml/2006/main" w="10478">
            <a:solidFill>
              <a:srgbClr val="D7E6FB"/>
            </a:solidFill>
            <a:prstDash val="solid"/>
          </a:ln>
        </p:spPr>
      </p:sp>
      <p:sp>
        <p:nvSpPr>
          <p:cNvPr id="9" name="">
            <a:extLst xmlns:a="http://schemas.openxmlformats.org/drawingml/2006/main">
              <a:ext uri="{FF2B5EF4-FFF2-40B4-BE49-F238E27FC236}">
                <a16:creationId xmlns:a16="http://schemas.microsoft.com/office/drawing/2014/main" id="{F77C6A47-3562-4A10-8E64-0202D4985F86}"/>
              </a:ext>
            </a:extLst>
          </p:cNvPr>
          <p:cNvSpPr>
            <a:spLocks xmlns:a="http://schemas.openxmlformats.org/drawingml/2006/main" noGrp="1"/>
          </p:cNvSpPr>
          <p:nvPr/>
        </p:nvSpPr>
        <p:spPr>
          <a:xfrm xmlns:a="http://schemas.openxmlformats.org/drawingml/2006/main">
            <a:off x="1809750" y="2748915"/>
            <a:ext cx="352425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Stable: tool definitions</a:t>
            </a:r>
          </a:p>
        </p:txBody>
      </p:sp>
      <p:sp>
        <p:nvSpPr>
          <p:cNvPr id="10" name="">
            <a:extLst xmlns:a="http://schemas.openxmlformats.org/drawingml/2006/main">
              <a:ext uri="{FF2B5EF4-FFF2-40B4-BE49-F238E27FC236}">
                <a16:creationId xmlns:a16="http://schemas.microsoft.com/office/drawing/2014/main" id="{9B924C6D-C13A-4FE2-9754-B70B4EF59C06}"/>
              </a:ext>
            </a:extLst>
          </p:cNvPr>
          <p:cNvSpPr>
            <a:spLocks xmlns:a="http://schemas.openxmlformats.org/drawingml/2006/main" noGrp="1"/>
          </p:cNvSpPr>
          <p:nvPr/>
        </p:nvSpPr>
        <p:spPr>
          <a:xfrm xmlns:a="http://schemas.openxmlformats.org/drawingml/2006/main">
            <a:off x="1695450" y="3307080"/>
            <a:ext cx="3752850" cy="567690"/>
          </a:xfrm>
          <a:prstGeom xmlns:a="http://schemas.openxmlformats.org/drawingml/2006/main" prst="roundRect">
            <a:avLst>
              <a:gd name="adj" fmla="val 10067"/>
            </a:avLst>
          </a:prstGeom>
          <a:solidFill xmlns:a="http://schemas.openxmlformats.org/drawingml/2006/main">
            <a:srgbClr val="E8F1FF"/>
          </a:solidFill>
          <a:ln xmlns:a="http://schemas.openxmlformats.org/drawingml/2006/main" w="10478">
            <a:solidFill>
              <a:srgbClr val="D7E6FB"/>
            </a:solidFill>
            <a:prstDash val="solid"/>
          </a:ln>
        </p:spPr>
      </p:sp>
      <p:sp>
        <p:nvSpPr>
          <p:cNvPr id="11" name="">
            <a:extLst xmlns:a="http://schemas.openxmlformats.org/drawingml/2006/main">
              <a:ext uri="{FF2B5EF4-FFF2-40B4-BE49-F238E27FC236}">
                <a16:creationId xmlns:a16="http://schemas.microsoft.com/office/drawing/2014/main" id="{325565AE-390F-4BB0-ADFE-88949F52E5D6}"/>
              </a:ext>
            </a:extLst>
          </p:cNvPr>
          <p:cNvSpPr>
            <a:spLocks xmlns:a="http://schemas.openxmlformats.org/drawingml/2006/main" noGrp="1"/>
          </p:cNvSpPr>
          <p:nvPr/>
        </p:nvSpPr>
        <p:spPr>
          <a:xfrm xmlns:a="http://schemas.openxmlformats.org/drawingml/2006/main">
            <a:off x="1809750" y="3392805"/>
            <a:ext cx="352425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Stable: reference docs</a:t>
            </a:r>
          </a:p>
        </p:txBody>
      </p:sp>
      <p:sp>
        <p:nvSpPr>
          <p:cNvPr id="12" name="">
            <a:extLst xmlns:a="http://schemas.openxmlformats.org/drawingml/2006/main">
              <a:ext uri="{FF2B5EF4-FFF2-40B4-BE49-F238E27FC236}">
                <a16:creationId xmlns:a16="http://schemas.microsoft.com/office/drawing/2014/main" id="{41D50BF3-3CEA-425D-B93D-33DDFAC05D37}"/>
              </a:ext>
            </a:extLst>
          </p:cNvPr>
          <p:cNvSpPr>
            <a:spLocks xmlns:a="http://schemas.openxmlformats.org/drawingml/2006/main" noGrp="1"/>
          </p:cNvSpPr>
          <p:nvPr/>
        </p:nvSpPr>
        <p:spPr>
          <a:xfrm xmlns:a="http://schemas.openxmlformats.org/drawingml/2006/main">
            <a:off x="1695450" y="3950970"/>
            <a:ext cx="3752850" cy="567690"/>
          </a:xfrm>
          <a:prstGeom xmlns:a="http://schemas.openxmlformats.org/drawingml/2006/main" prst="roundRect">
            <a:avLst>
              <a:gd name="adj" fmla="val 10067"/>
            </a:avLst>
          </a:prstGeom>
          <a:solidFill xmlns:a="http://schemas.openxmlformats.org/drawingml/2006/main">
            <a:srgbClr val="FFF7DF"/>
          </a:solidFill>
          <a:ln xmlns:a="http://schemas.openxmlformats.org/drawingml/2006/main" w="10478">
            <a:solidFill>
              <a:srgbClr val="D7E6FB"/>
            </a:solidFill>
            <a:prstDash val="solid"/>
          </a:ln>
        </p:spPr>
      </p:sp>
      <p:sp>
        <p:nvSpPr>
          <p:cNvPr id="13" name="">
            <a:extLst xmlns:a="http://schemas.openxmlformats.org/drawingml/2006/main">
              <a:ext uri="{FF2B5EF4-FFF2-40B4-BE49-F238E27FC236}">
                <a16:creationId xmlns:a16="http://schemas.microsoft.com/office/drawing/2014/main" id="{0AD87250-C7DE-4086-BCB5-759A5FC86109}"/>
              </a:ext>
            </a:extLst>
          </p:cNvPr>
          <p:cNvSpPr>
            <a:spLocks xmlns:a="http://schemas.openxmlformats.org/drawingml/2006/main" noGrp="1"/>
          </p:cNvSpPr>
          <p:nvPr/>
        </p:nvSpPr>
        <p:spPr>
          <a:xfrm xmlns:a="http://schemas.openxmlformats.org/drawingml/2006/main">
            <a:off x="1809750" y="4036695"/>
            <a:ext cx="352425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D88A00"/>
                </a:solidFill>
              </a:defRPr>
            </a:pPr>
            <a:r>
              <a:rPr sz="1200" b="0" i="0">
                <a:solidFill>
                  <a:srgbClr val="D88A00"/>
                </a:solidFill>
              </a:rPr>
              <a:t>Changing: conversation tail</a:t>
            </a:r>
          </a:p>
        </p:txBody>
      </p:sp>
      <p:sp>
        <p:nvSpPr>
          <p:cNvPr id="14" name="">
            <a:extLst xmlns:a="http://schemas.openxmlformats.org/drawingml/2006/main">
              <a:ext uri="{FF2B5EF4-FFF2-40B4-BE49-F238E27FC236}">
                <a16:creationId xmlns:a16="http://schemas.microsoft.com/office/drawing/2014/main" id="{6CAB026A-9FDA-46C2-8392-D4521B34AE64}"/>
              </a:ext>
            </a:extLst>
          </p:cNvPr>
          <p:cNvSpPr>
            <a:spLocks xmlns:a="http://schemas.openxmlformats.org/drawingml/2006/main" noGrp="1"/>
          </p:cNvSpPr>
          <p:nvPr/>
        </p:nvSpPr>
        <p:spPr>
          <a:xfrm xmlns:a="http://schemas.openxmlformats.org/drawingml/2006/main">
            <a:off x="1695450" y="4594860"/>
            <a:ext cx="3752850" cy="567690"/>
          </a:xfrm>
          <a:prstGeom xmlns:a="http://schemas.openxmlformats.org/drawingml/2006/main" prst="roundRect">
            <a:avLst>
              <a:gd name="adj" fmla="val 10067"/>
            </a:avLst>
          </a:prstGeom>
          <a:solidFill xmlns:a="http://schemas.openxmlformats.org/drawingml/2006/main">
            <a:srgbClr val="FFF7DF"/>
          </a:solidFill>
          <a:ln xmlns:a="http://schemas.openxmlformats.org/drawingml/2006/main" w="10478">
            <a:solidFill>
              <a:srgbClr val="D7E6FB"/>
            </a:solidFill>
            <a:prstDash val="solid"/>
          </a:ln>
        </p:spPr>
      </p:sp>
      <p:sp>
        <p:nvSpPr>
          <p:cNvPr id="15" name="">
            <a:extLst xmlns:a="http://schemas.openxmlformats.org/drawingml/2006/main">
              <a:ext uri="{FF2B5EF4-FFF2-40B4-BE49-F238E27FC236}">
                <a16:creationId xmlns:a16="http://schemas.microsoft.com/office/drawing/2014/main" id="{945BA2BC-0DDB-4F73-A78E-2694629111F6}"/>
              </a:ext>
            </a:extLst>
          </p:cNvPr>
          <p:cNvSpPr>
            <a:spLocks xmlns:a="http://schemas.openxmlformats.org/drawingml/2006/main" noGrp="1"/>
          </p:cNvSpPr>
          <p:nvPr/>
        </p:nvSpPr>
        <p:spPr>
          <a:xfrm xmlns:a="http://schemas.openxmlformats.org/drawingml/2006/main">
            <a:off x="1809750" y="4680585"/>
            <a:ext cx="352425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D88A00"/>
                </a:solidFill>
              </a:defRPr>
            </a:pPr>
            <a:r>
              <a:rPr sz="1200" b="1" i="0">
                <a:solidFill>
                  <a:srgbClr val="D88A00"/>
                </a:solidFill>
              </a:rPr>
              <a:t>Changing: current message</a:t>
            </a:r>
          </a:p>
        </p:txBody>
      </p:sp>
      <p:sp>
        <p:nvSpPr>
          <p:cNvPr id="16" name="">
            <a:extLst xmlns:a="http://schemas.openxmlformats.org/drawingml/2006/main">
              <a:ext uri="{FF2B5EF4-FFF2-40B4-BE49-F238E27FC236}">
                <a16:creationId xmlns:a16="http://schemas.microsoft.com/office/drawing/2014/main" id="{1B73DAE0-4286-4CE9-8827-FADA6EA957D1}"/>
              </a:ext>
            </a:extLst>
          </p:cNvPr>
          <p:cNvSpPr>
            <a:spLocks xmlns:a="http://schemas.openxmlformats.org/drawingml/2006/main" noGrp="1"/>
          </p:cNvSpPr>
          <p:nvPr/>
        </p:nvSpPr>
        <p:spPr>
          <a:xfrm xmlns:a="http://schemas.openxmlformats.org/drawingml/2006/main">
            <a:off x="5905500" y="2190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38A43"/>
                </a:solidFill>
              </a:defRPr>
            </a:pPr>
            <a:r>
              <a:rPr sz="1800" b="1" i="0">
                <a:solidFill>
                  <a:srgbClr val="138A43"/>
                </a:solidFill>
              </a:rPr>
              <a:t>Cached prefix</a:t>
            </a:r>
          </a:p>
        </p:txBody>
      </p:sp>
      <p:sp>
        <p:nvSpPr>
          <p:cNvPr id="17" name="">
            <a:extLst xmlns:a="http://schemas.openxmlformats.org/drawingml/2006/main">
              <a:ext uri="{FF2B5EF4-FFF2-40B4-BE49-F238E27FC236}">
                <a16:creationId xmlns:a16="http://schemas.microsoft.com/office/drawing/2014/main" id="{DDE5FE45-98E9-4C78-948F-B98A81AB8F38}"/>
              </a:ext>
            </a:extLst>
          </p:cNvPr>
          <p:cNvSpPr>
            <a:spLocks xmlns:a="http://schemas.openxmlformats.org/drawingml/2006/main" noGrp="1"/>
          </p:cNvSpPr>
          <p:nvPr/>
        </p:nvSpPr>
        <p:spPr>
          <a:xfrm xmlns:a="http://schemas.openxmlformats.org/drawingml/2006/main">
            <a:off x="5667375" y="2476500"/>
            <a:ext cx="1428750" cy="0"/>
          </a:xfrm>
          <a:prstGeom xmlns:a="http://schemas.openxmlformats.org/drawingml/2006/main" prst="line">
            <a:avLst/>
          </a:prstGeom>
          <a:ln xmlns:a="http://schemas.openxmlformats.org/drawingml/2006/main" w="38100">
            <a:solidFill>
              <a:srgbClr val="138A43"/>
            </a:solidFill>
            <a:prstDash val="solid"/>
          </a:ln>
        </p:spPr>
      </p:sp>
      <p:sp>
        <p:nvSpPr>
          <p:cNvPr id="18" name="">
            <a:extLst xmlns:a="http://schemas.openxmlformats.org/drawingml/2006/main">
              <a:ext uri="{FF2B5EF4-FFF2-40B4-BE49-F238E27FC236}">
                <a16:creationId xmlns:a16="http://schemas.microsoft.com/office/drawing/2014/main" id="{7A7EBD87-E6C5-4184-B4B8-D3BD9D38AF6D}"/>
              </a:ext>
            </a:extLst>
          </p:cNvPr>
          <p:cNvSpPr>
            <a:spLocks xmlns:a="http://schemas.openxmlformats.org/drawingml/2006/main" noGrp="1"/>
          </p:cNvSpPr>
          <p:nvPr/>
        </p:nvSpPr>
        <p:spPr>
          <a:xfrm xmlns:a="http://schemas.openxmlformats.org/drawingml/2006/main">
            <a:off x="5905500" y="40957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D88A00"/>
                </a:solidFill>
              </a:defRPr>
            </a:pPr>
            <a:r>
              <a:rPr sz="1800" b="1" i="0">
                <a:solidFill>
                  <a:srgbClr val="D88A00"/>
                </a:solidFill>
              </a:rPr>
              <a:t>Changing tail</a:t>
            </a:r>
          </a:p>
        </p:txBody>
      </p:sp>
      <p:sp>
        <p:nvSpPr>
          <p:cNvPr id="19" name="">
            <a:extLst xmlns:a="http://schemas.openxmlformats.org/drawingml/2006/main">
              <a:ext uri="{FF2B5EF4-FFF2-40B4-BE49-F238E27FC236}">
                <a16:creationId xmlns:a16="http://schemas.microsoft.com/office/drawing/2014/main" id="{18CA36FB-647C-46BD-95FE-A0F40076988E}"/>
              </a:ext>
            </a:extLst>
          </p:cNvPr>
          <p:cNvSpPr>
            <a:spLocks xmlns:a="http://schemas.openxmlformats.org/drawingml/2006/main" noGrp="1"/>
          </p:cNvSpPr>
          <p:nvPr/>
        </p:nvSpPr>
        <p:spPr>
          <a:xfrm xmlns:a="http://schemas.openxmlformats.org/drawingml/2006/main">
            <a:off x="5667375" y="4362450"/>
            <a:ext cx="1428750" cy="0"/>
          </a:xfrm>
          <a:prstGeom xmlns:a="http://schemas.openxmlformats.org/drawingml/2006/main" prst="line">
            <a:avLst/>
          </a:prstGeom>
          <a:ln xmlns:a="http://schemas.openxmlformats.org/drawingml/2006/main" w="38100">
            <a:solidFill>
              <a:srgbClr val="D88A00"/>
            </a:solidFill>
            <a:prstDash val="solid"/>
          </a:ln>
        </p:spPr>
      </p:sp>
      <p:sp>
        <p:nvSpPr>
          <p:cNvPr id="20" name="">
            <a:extLst xmlns:a="http://schemas.openxmlformats.org/drawingml/2006/main">
              <a:ext uri="{FF2B5EF4-FFF2-40B4-BE49-F238E27FC236}">
                <a16:creationId xmlns:a16="http://schemas.microsoft.com/office/drawing/2014/main" id="{D1D4F3EB-0306-470B-BF20-20E021894595}"/>
              </a:ext>
            </a:extLst>
          </p:cNvPr>
          <p:cNvSpPr>
            <a:spLocks xmlns:a="http://schemas.openxmlformats.org/drawingml/2006/main" noGrp="1"/>
          </p:cNvSpPr>
          <p:nvPr/>
        </p:nvSpPr>
        <p:spPr>
          <a:xfrm xmlns:a="http://schemas.openxmlformats.org/drawingml/2006/main">
            <a:off x="7810500" y="1771650"/>
            <a:ext cx="3048000" cy="1485900"/>
          </a:xfrm>
          <a:prstGeom xmlns:a="http://schemas.openxmlformats.org/drawingml/2006/main" prst="roundRect">
            <a:avLst>
              <a:gd name="adj" fmla="val 5128"/>
            </a:avLst>
          </a:prstGeom>
          <a:solidFill xmlns:a="http://schemas.openxmlformats.org/drawingml/2006/main">
            <a:srgbClr val="F8FBFF"/>
          </a:solidFill>
          <a:ln xmlns:a="http://schemas.openxmlformats.org/drawingml/2006/main" w="10478">
            <a:solidFill>
              <a:srgbClr val="138A43"/>
            </a:solidFill>
            <a:prstDash val="solid"/>
          </a:ln>
        </p:spPr>
      </p:sp>
      <p:sp>
        <p:nvSpPr>
          <p:cNvPr id="21" name="">
            <a:extLst xmlns:a="http://schemas.openxmlformats.org/drawingml/2006/main">
              <a:ext uri="{FF2B5EF4-FFF2-40B4-BE49-F238E27FC236}">
                <a16:creationId xmlns:a16="http://schemas.microsoft.com/office/drawing/2014/main" id="{CA151A16-89D2-41C9-B28D-BFB5BA294D72}"/>
              </a:ext>
            </a:extLst>
          </p:cNvPr>
          <p:cNvSpPr>
            <a:spLocks xmlns:a="http://schemas.openxmlformats.org/drawingml/2006/main" noGrp="1"/>
          </p:cNvSpPr>
          <p:nvPr/>
        </p:nvSpPr>
        <p:spPr>
          <a:xfrm xmlns:a="http://schemas.openxmlformats.org/drawingml/2006/main">
            <a:off x="8096250" y="2000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38A43"/>
                </a:solidFill>
              </a:defRPr>
            </a:pPr>
            <a:r>
              <a:rPr sz="1800" b="1" i="0">
                <a:solidFill>
                  <a:srgbClr val="138A43"/>
                </a:solidFill>
              </a:rPr>
              <a:t>Good candidates</a:t>
            </a:r>
          </a:p>
        </p:txBody>
      </p:sp>
      <p:sp>
        <p:nvSpPr>
          <p:cNvPr id="22" name="">
            <a:extLst xmlns:a="http://schemas.openxmlformats.org/drawingml/2006/main">
              <a:ext uri="{FF2B5EF4-FFF2-40B4-BE49-F238E27FC236}">
                <a16:creationId xmlns:a16="http://schemas.microsoft.com/office/drawing/2014/main" id="{F17CF291-3A7B-4D17-B921-B8587BAFE3EC}"/>
              </a:ext>
            </a:extLst>
          </p:cNvPr>
          <p:cNvSpPr>
            <a:spLocks xmlns:a="http://schemas.openxmlformats.org/drawingml/2006/main" noGrp="1"/>
          </p:cNvSpPr>
          <p:nvPr/>
        </p:nvSpPr>
        <p:spPr>
          <a:xfrm xmlns:a="http://schemas.openxmlformats.org/drawingml/2006/main">
            <a:off x="8267700" y="2400300"/>
            <a:ext cx="213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System prompt</a:t>
            </a:r>
          </a:p>
          <a:p xmlns:a="http://schemas.openxmlformats.org/drawingml/2006/main">
            <a:pPr algn="ctr">
              <a:defRPr sz="1200" b="0" i="0">
                <a:solidFill>
                  <a:srgbClr val="061A45"/>
                </a:solidFill>
              </a:defRPr>
            </a:pPr>
            <a:r>
              <a:rPr sz="1200" b="0" i="0">
                <a:solidFill>
                  <a:srgbClr val="061A45"/>
                </a:solidFill>
              </a:rPr>
              <a:t>Tool schemas</a:t>
            </a:r>
          </a:p>
          <a:p xmlns:a="http://schemas.openxmlformats.org/drawingml/2006/main">
            <a:pPr algn="ctr">
              <a:defRPr sz="1200" b="0" i="0">
                <a:solidFill>
                  <a:srgbClr val="061A45"/>
                </a:solidFill>
              </a:defRPr>
            </a:pPr>
            <a:r>
              <a:rPr sz="1200" b="0" i="0">
                <a:solidFill>
                  <a:srgbClr val="061A45"/>
                </a:solidFill>
              </a:rPr>
              <a:t>Long static docs</a:t>
            </a:r>
          </a:p>
          <a:p xmlns:a="http://schemas.openxmlformats.org/drawingml/2006/main">
            <a:pPr algn="ctr">
              <a:defRPr sz="1200" b="0" i="0">
                <a:solidFill>
                  <a:srgbClr val="061A45"/>
                </a:solidFill>
              </a:defRPr>
            </a:pPr>
            <a:r>
              <a:rPr sz="1200" b="0" i="0">
                <a:solidFill>
                  <a:srgbClr val="061A45"/>
                </a:solidFill>
              </a:rPr>
              <a:t>Stable examples</a:t>
            </a:r>
          </a:p>
        </p:txBody>
      </p:sp>
      <p:sp>
        <p:nvSpPr>
          <p:cNvPr id="23" name="">
            <a:extLst xmlns:a="http://schemas.openxmlformats.org/drawingml/2006/main">
              <a:ext uri="{FF2B5EF4-FFF2-40B4-BE49-F238E27FC236}">
                <a16:creationId xmlns:a16="http://schemas.microsoft.com/office/drawing/2014/main" id="{9E3DD4BA-FC24-4C8E-B4FD-383BF529583E}"/>
              </a:ext>
            </a:extLst>
          </p:cNvPr>
          <p:cNvSpPr>
            <a:spLocks xmlns:a="http://schemas.openxmlformats.org/drawingml/2006/main" noGrp="1"/>
          </p:cNvSpPr>
          <p:nvPr/>
        </p:nvSpPr>
        <p:spPr>
          <a:xfrm xmlns:a="http://schemas.openxmlformats.org/drawingml/2006/main">
            <a:off x="7810500" y="3714750"/>
            <a:ext cx="3048000" cy="1485900"/>
          </a:xfrm>
          <a:prstGeom xmlns:a="http://schemas.openxmlformats.org/drawingml/2006/main" prst="roundRect">
            <a:avLst>
              <a:gd name="adj" fmla="val 5128"/>
            </a:avLst>
          </a:prstGeom>
          <a:solidFill xmlns:a="http://schemas.openxmlformats.org/drawingml/2006/main">
            <a:srgbClr val="FFF7DF"/>
          </a:solidFill>
          <a:ln xmlns:a="http://schemas.openxmlformats.org/drawingml/2006/main" w="10478">
            <a:solidFill>
              <a:srgbClr val="F0D891"/>
            </a:solidFill>
            <a:prstDash val="solid"/>
          </a:ln>
        </p:spPr>
      </p:sp>
      <p:sp>
        <p:nvSpPr>
          <p:cNvPr id="24" name="">
            <a:extLst xmlns:a="http://schemas.openxmlformats.org/drawingml/2006/main">
              <a:ext uri="{FF2B5EF4-FFF2-40B4-BE49-F238E27FC236}">
                <a16:creationId xmlns:a16="http://schemas.microsoft.com/office/drawing/2014/main" id="{82C4C778-EBE0-4211-AD84-F6E38C86A447}"/>
              </a:ext>
            </a:extLst>
          </p:cNvPr>
          <p:cNvSpPr>
            <a:spLocks xmlns:a="http://schemas.openxmlformats.org/drawingml/2006/main" noGrp="1"/>
          </p:cNvSpPr>
          <p:nvPr/>
        </p:nvSpPr>
        <p:spPr>
          <a:xfrm xmlns:a="http://schemas.openxmlformats.org/drawingml/2006/main">
            <a:off x="8096250" y="39433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D88A00"/>
                </a:solidFill>
              </a:defRPr>
            </a:pPr>
            <a:r>
              <a:rPr sz="1800" b="1" i="0">
                <a:solidFill>
                  <a:srgbClr val="D88A00"/>
                </a:solidFill>
              </a:rPr>
              <a:t>Poor candidates</a:t>
            </a:r>
          </a:p>
        </p:txBody>
      </p:sp>
      <p:sp>
        <p:nvSpPr>
          <p:cNvPr id="25" name="">
            <a:extLst xmlns:a="http://schemas.openxmlformats.org/drawingml/2006/main">
              <a:ext uri="{FF2B5EF4-FFF2-40B4-BE49-F238E27FC236}">
                <a16:creationId xmlns:a16="http://schemas.microsoft.com/office/drawing/2014/main" id="{DF88E7C8-EC8B-418F-9A47-90AC799986C7}"/>
              </a:ext>
            </a:extLst>
          </p:cNvPr>
          <p:cNvSpPr>
            <a:spLocks xmlns:a="http://schemas.openxmlformats.org/drawingml/2006/main" noGrp="1"/>
          </p:cNvSpPr>
          <p:nvPr/>
        </p:nvSpPr>
        <p:spPr>
          <a:xfrm xmlns:a="http://schemas.openxmlformats.org/drawingml/2006/main">
            <a:off x="8267700" y="43624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061A45"/>
                </a:solidFill>
              </a:defRPr>
            </a:pPr>
            <a:r>
              <a:rPr sz="1200" b="0" i="0">
                <a:solidFill>
                  <a:srgbClr val="061A45"/>
                </a:solidFill>
              </a:rPr>
              <a:t>Latest user question</a:t>
            </a:r>
          </a:p>
          <a:p xmlns:a="http://schemas.openxmlformats.org/drawingml/2006/main">
            <a:pPr algn="ctr">
              <a:defRPr sz="1200" b="0" i="0">
                <a:solidFill>
                  <a:srgbClr val="061A45"/>
                </a:solidFill>
              </a:defRPr>
            </a:pPr>
            <a:r>
              <a:rPr sz="1200" b="0" i="0">
                <a:solidFill>
                  <a:srgbClr val="061A45"/>
                </a:solidFill>
              </a:rPr>
              <a:t>Fast-changing results</a:t>
            </a:r>
          </a:p>
          <a:p xmlns:a="http://schemas.openxmlformats.org/drawingml/2006/main">
            <a:pPr algn="ctr">
              <a:defRPr sz="1200" b="0" i="0">
                <a:solidFill>
                  <a:srgbClr val="061A45"/>
                </a:solidFill>
              </a:defRPr>
            </a:pPr>
            <a:r>
              <a:rPr sz="1200" b="0" i="0">
                <a:solidFill>
                  <a:srgbClr val="061A45"/>
                </a:solidFill>
              </a:rPr>
              <a:t>One-off private details</a:t>
            </a:r>
          </a:p>
        </p:txBody>
      </p:sp>
      <p:sp>
        <p:nvSpPr>
          <p:cNvPr id="26" name="">
            <a:extLst xmlns:a="http://schemas.openxmlformats.org/drawingml/2006/main">
              <a:ext uri="{FF2B5EF4-FFF2-40B4-BE49-F238E27FC236}">
                <a16:creationId xmlns:a16="http://schemas.microsoft.com/office/drawing/2014/main" id="{E3F7CA3E-8537-4500-9F97-8A506299EE0F}"/>
              </a:ext>
            </a:extLst>
          </p:cNvPr>
          <p:cNvSpPr>
            <a:spLocks xmlns:a="http://schemas.openxmlformats.org/drawingml/2006/main" noGrp="1"/>
          </p:cNvSpPr>
          <p:nvPr/>
        </p:nvSpPr>
        <p:spPr>
          <a:xfrm xmlns:a="http://schemas.openxmlformats.org/drawingml/2006/main">
            <a:off x="1181100" y="5715000"/>
            <a:ext cx="98298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0478">
            <a:solidFill>
              <a:srgbClr val="004AAD"/>
            </a:solidFill>
            <a:prstDash val="solid"/>
          </a:ln>
        </p:spPr>
      </p:sp>
      <p:sp>
        <p:nvSpPr>
          <p:cNvPr id="27" name="">
            <a:extLst xmlns:a="http://schemas.openxmlformats.org/drawingml/2006/main">
              <a:ext uri="{FF2B5EF4-FFF2-40B4-BE49-F238E27FC236}">
                <a16:creationId xmlns:a16="http://schemas.microsoft.com/office/drawing/2014/main" id="{FDC0EEB3-8434-4DF0-8568-EE6F1308F159}"/>
              </a:ext>
            </a:extLst>
          </p:cNvPr>
          <p:cNvSpPr>
            <a:spLocks xmlns:a="http://schemas.openxmlformats.org/drawingml/2006/main" noGrp="1"/>
          </p:cNvSpPr>
          <p:nvPr/>
        </p:nvSpPr>
        <p:spPr>
          <a:xfrm xmlns:a="http://schemas.openxmlformats.org/drawingml/2006/main">
            <a:off x="1619250" y="5857875"/>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0">
                <a:solidFill>
                  <a:srgbClr val="061A45"/>
                </a:solidFill>
              </a:defRPr>
            </a:pPr>
            <a:r>
              <a:rPr sz="1350" b="0" i="0">
                <a:solidFill>
                  <a:srgbClr val="061A45"/>
                </a:solidFill>
              </a:rPr>
              <a:t>The ordering trick is a cache topic. How the harness builds that order belongs in Lesson 2.</a:t>
            </a:r>
          </a:p>
        </p:txBody>
      </p:sp>
    </p:spTree>
    <p:extLst>
      <p:ext uri="{BB962C8B-B14F-4D97-AF65-F5344CB8AC3E}">
        <p14:creationId xmlns:p14="http://schemas.microsoft.com/office/powerpoint/2010/main" val="19789227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899EBD-535E-46D3-8D83-F3BBED8F0B13}"/>
              </a:ext>
            </a:extLst>
          </p:cNvPr>
          <p:cNvSpPr>
            <a:spLocks xmlns:a="http://schemas.openxmlformats.org/drawingml/2006/main" noGrp="1"/>
          </p:cNvSpPr>
          <p:nvPr/>
        </p:nvSpPr>
        <p:spPr>
          <a:xfrm xmlns:a="http://schemas.openxmlformats.org/drawingml/2006/main">
            <a:off x="457200" y="266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61A45"/>
                </a:solidFill>
              </a:defRPr>
            </a:pPr>
            <a:r>
              <a:rPr sz="2850" b="1" i="0">
                <a:solidFill>
                  <a:srgbClr val="061A45"/>
                </a:solidFill>
              </a:rPr>
              <a:t>Cache Is Not Memory</a:t>
            </a:r>
          </a:p>
        </p:txBody>
      </p:sp>
      <p:sp>
        <p:nvSpPr>
          <p:cNvPr id="2" name="">
            <a:extLst xmlns:a="http://schemas.openxmlformats.org/drawingml/2006/main">
              <a:ext uri="{FF2B5EF4-FFF2-40B4-BE49-F238E27FC236}">
                <a16:creationId xmlns:a16="http://schemas.microsoft.com/office/drawing/2014/main" id="{7D23C47E-C765-4CE3-899C-C941768582C6}"/>
              </a:ext>
            </a:extLst>
          </p:cNvPr>
          <p:cNvSpPr>
            <a:spLocks xmlns:a="http://schemas.openxmlformats.org/drawingml/2006/main" noGrp="1"/>
          </p:cNvSpPr>
          <p:nvPr/>
        </p:nvSpPr>
        <p:spPr>
          <a:xfrm xmlns:a="http://schemas.openxmlformats.org/drawingml/2006/main">
            <a:off x="2095500" y="83820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004AAD"/>
                </a:solidFill>
              </a:defRPr>
            </a:pPr>
            <a:r>
              <a:rPr sz="1500" b="0" i="1">
                <a:solidFill>
                  <a:srgbClr val="004AAD"/>
                </a:solidFill>
              </a:rPr>
              <a:t>Five context mechanisms solve different problems.</a:t>
            </a:r>
          </a:p>
        </p:txBody>
      </p:sp>
      <p:sp>
        <p:nvSpPr>
          <p:cNvPr id="3" name="">
            <a:extLst xmlns:a="http://schemas.openxmlformats.org/drawingml/2006/main">
              <a:ext uri="{FF2B5EF4-FFF2-40B4-BE49-F238E27FC236}">
                <a16:creationId xmlns:a16="http://schemas.microsoft.com/office/drawing/2014/main" id="{8C91D4BC-FD71-48BE-9B82-6EFBFFB8472B}"/>
              </a:ext>
            </a:extLst>
          </p:cNvPr>
          <p:cNvSpPr>
            <a:spLocks xmlns:a="http://schemas.openxmlformats.org/drawingml/2006/main" noGrp="1"/>
          </p:cNvSpPr>
          <p:nvPr/>
        </p:nvSpPr>
        <p:spPr>
          <a:xfrm xmlns:a="http://schemas.openxmlformats.org/drawingml/2006/main">
            <a:off x="457200" y="1162050"/>
            <a:ext cx="11277600" cy="0"/>
          </a:xfrm>
          <a:prstGeom xmlns:a="http://schemas.openxmlformats.org/drawingml/2006/main" prst="line">
            <a:avLst/>
          </a:prstGeom>
          <a:ln xmlns:a="http://schemas.openxmlformats.org/drawingml/2006/main" w="19050">
            <a:solidFill>
              <a:srgbClr val="004AAD"/>
            </a:solidFill>
            <a:prstDash val="solid"/>
          </a:ln>
        </p:spPr>
      </p:sp>
      <p:sp>
        <p:nvSpPr>
          <p:cNvPr id="4" name="">
            <a:extLst xmlns:a="http://schemas.openxmlformats.org/drawingml/2006/main">
              <a:ext uri="{FF2B5EF4-FFF2-40B4-BE49-F238E27FC236}">
                <a16:creationId xmlns:a16="http://schemas.microsoft.com/office/drawing/2014/main" id="{58E0C95C-CCF1-42EB-9913-7C70D0103CBC}"/>
              </a:ext>
            </a:extLst>
          </p:cNvPr>
          <p:cNvSpPr>
            <a:spLocks xmlns:a="http://schemas.openxmlformats.org/drawingml/2006/main" noGrp="1"/>
          </p:cNvSpPr>
          <p:nvPr/>
        </p:nvSpPr>
        <p:spPr>
          <a:xfrm xmlns:a="http://schemas.openxmlformats.org/drawingml/2006/main">
            <a:off x="609600" y="1524000"/>
            <a:ext cx="10972800" cy="438150"/>
          </a:xfrm>
          <a:prstGeom xmlns:a="http://schemas.openxmlformats.org/drawingml/2006/main" prst="roundRect">
            <a:avLst>
              <a:gd name="adj" fmla="val 17391"/>
            </a:avLst>
          </a:prstGeom>
          <a:solidFill xmlns:a="http://schemas.openxmlformats.org/drawingml/2006/main">
            <a:srgbClr val="004AAD"/>
          </a:solidFill>
          <a:ln xmlns:a="http://schemas.openxmlformats.org/drawingml/2006/main" w="10478">
            <a:solidFill>
              <a:srgbClr val="004AAD"/>
            </a:solidFill>
            <a:prstDash val="solid"/>
          </a:ln>
        </p:spPr>
      </p:sp>
      <p:sp>
        <p:nvSpPr>
          <p:cNvPr id="5" name="">
            <a:extLst xmlns:a="http://schemas.openxmlformats.org/drawingml/2006/main">
              <a:ext uri="{FF2B5EF4-FFF2-40B4-BE49-F238E27FC236}">
                <a16:creationId xmlns:a16="http://schemas.microsoft.com/office/drawing/2014/main" id="{DAD5B682-912E-435F-B76D-A1A9BB7EACE2}"/>
              </a:ext>
            </a:extLst>
          </p:cNvPr>
          <p:cNvSpPr>
            <a:spLocks xmlns:a="http://schemas.openxmlformats.org/drawingml/2006/main" noGrp="1"/>
          </p:cNvSpPr>
          <p:nvPr/>
        </p:nvSpPr>
        <p:spPr>
          <a:xfrm xmlns:a="http://schemas.openxmlformats.org/drawingml/2006/main">
            <a:off x="704850" y="1647825"/>
            <a:ext cx="121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Mechanism</a:t>
            </a:r>
          </a:p>
        </p:txBody>
      </p:sp>
      <p:sp>
        <p:nvSpPr>
          <p:cNvPr id="6" name="">
            <a:extLst xmlns:a="http://schemas.openxmlformats.org/drawingml/2006/main">
              <a:ext uri="{FF2B5EF4-FFF2-40B4-BE49-F238E27FC236}">
                <a16:creationId xmlns:a16="http://schemas.microsoft.com/office/drawing/2014/main" id="{D774E082-8DB4-4FA2-AB7D-A31BED0C77E1}"/>
              </a:ext>
            </a:extLst>
          </p:cNvPr>
          <p:cNvSpPr>
            <a:spLocks xmlns:a="http://schemas.openxmlformats.org/drawingml/2006/main" noGrp="1"/>
          </p:cNvSpPr>
          <p:nvPr/>
        </p:nvSpPr>
        <p:spPr>
          <a:xfrm xmlns:a="http://schemas.openxmlformats.org/drawingml/2006/main">
            <a:off x="2362200" y="1647825"/>
            <a:ext cx="2533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What it does</a:t>
            </a:r>
          </a:p>
        </p:txBody>
      </p:sp>
      <p:sp>
        <p:nvSpPr>
          <p:cNvPr id="7" name="">
            <a:extLst xmlns:a="http://schemas.openxmlformats.org/drawingml/2006/main">
              <a:ext uri="{FF2B5EF4-FFF2-40B4-BE49-F238E27FC236}">
                <a16:creationId xmlns:a16="http://schemas.microsoft.com/office/drawing/2014/main" id="{AEE1B001-00A6-4CDC-893D-0E314F7483F4}"/>
              </a:ext>
            </a:extLst>
          </p:cNvPr>
          <p:cNvSpPr>
            <a:spLocks xmlns:a="http://schemas.openxmlformats.org/drawingml/2006/main" noGrp="1"/>
          </p:cNvSpPr>
          <p:nvPr/>
        </p:nvSpPr>
        <p:spPr>
          <a:xfrm xmlns:a="http://schemas.openxmlformats.org/drawingml/2006/main">
            <a:off x="5429250" y="1647825"/>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Paper Model meaning</a:t>
            </a:r>
          </a:p>
        </p:txBody>
      </p:sp>
      <p:sp>
        <p:nvSpPr>
          <p:cNvPr id="8" name="">
            <a:extLst xmlns:a="http://schemas.openxmlformats.org/drawingml/2006/main">
              <a:ext uri="{FF2B5EF4-FFF2-40B4-BE49-F238E27FC236}">
                <a16:creationId xmlns:a16="http://schemas.microsoft.com/office/drawing/2014/main" id="{503D7A18-F9A7-46F9-A6C4-1EEDEDC68325}"/>
              </a:ext>
            </a:extLst>
          </p:cNvPr>
          <p:cNvSpPr>
            <a:spLocks xmlns:a="http://schemas.openxmlformats.org/drawingml/2006/main" noGrp="1"/>
          </p:cNvSpPr>
          <p:nvPr/>
        </p:nvSpPr>
        <p:spPr>
          <a:xfrm xmlns:a="http://schemas.openxmlformats.org/drawingml/2006/main">
            <a:off x="8782050" y="16478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Not the same as</a:t>
            </a:r>
          </a:p>
        </p:txBody>
      </p:sp>
      <p:sp>
        <p:nvSpPr>
          <p:cNvPr id="9" name="">
            <a:extLst xmlns:a="http://schemas.openxmlformats.org/drawingml/2006/main">
              <a:ext uri="{FF2B5EF4-FFF2-40B4-BE49-F238E27FC236}">
                <a16:creationId xmlns:a16="http://schemas.microsoft.com/office/drawing/2014/main" id="{61334703-AC36-4A5B-923F-D3E31F9159A1}"/>
              </a:ext>
            </a:extLst>
          </p:cNvPr>
          <p:cNvSpPr>
            <a:spLocks xmlns:a="http://schemas.openxmlformats.org/drawingml/2006/main" noGrp="1"/>
          </p:cNvSpPr>
          <p:nvPr/>
        </p:nvSpPr>
        <p:spPr>
          <a:xfrm xmlns:a="http://schemas.openxmlformats.org/drawingml/2006/main">
            <a:off x="609600" y="1981200"/>
            <a:ext cx="10972800" cy="628650"/>
          </a:xfrm>
          <a:prstGeom xmlns:a="http://schemas.openxmlformats.org/drawingml/2006/main" prst="roundRect">
            <a:avLst>
              <a:gd name="adj" fmla="val 9091"/>
            </a:avLst>
          </a:prstGeom>
          <a:solidFill xmlns:a="http://schemas.openxmlformats.org/drawingml/2006/main">
            <a:srgbClr val="F8FBFF"/>
          </a:solidFill>
          <a:ln xmlns:a="http://schemas.openxmlformats.org/drawingml/2006/main" w="10478">
            <a:solidFill>
              <a:srgbClr val="B9D4F6"/>
            </a:solidFill>
            <a:prstDash val="solid"/>
          </a:ln>
        </p:spPr>
      </p:sp>
      <p:sp>
        <p:nvSpPr>
          <p:cNvPr id="10" name="">
            <a:extLst xmlns:a="http://schemas.openxmlformats.org/drawingml/2006/main">
              <a:ext uri="{FF2B5EF4-FFF2-40B4-BE49-F238E27FC236}">
                <a16:creationId xmlns:a16="http://schemas.microsoft.com/office/drawing/2014/main" id="{70715996-9D2D-408C-AFE9-AFB294A3DA59}"/>
              </a:ext>
            </a:extLst>
          </p:cNvPr>
          <p:cNvSpPr>
            <a:spLocks xmlns:a="http://schemas.openxmlformats.org/drawingml/2006/main" noGrp="1"/>
          </p:cNvSpPr>
          <p:nvPr/>
        </p:nvSpPr>
        <p:spPr>
          <a:xfrm xmlns:a="http://schemas.openxmlformats.org/drawingml/2006/main">
            <a:off x="704850" y="21336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Context</a:t>
            </a:r>
          </a:p>
        </p:txBody>
      </p:sp>
      <p:sp>
        <p:nvSpPr>
          <p:cNvPr id="11" name="">
            <a:extLst xmlns:a="http://schemas.openxmlformats.org/drawingml/2006/main">
              <a:ext uri="{FF2B5EF4-FFF2-40B4-BE49-F238E27FC236}">
                <a16:creationId xmlns:a16="http://schemas.microsoft.com/office/drawing/2014/main" id="{74A0BFA3-D799-44CC-AE64-DBD6A0AAF3A5}"/>
              </a:ext>
            </a:extLst>
          </p:cNvPr>
          <p:cNvSpPr>
            <a:spLocks xmlns:a="http://schemas.openxmlformats.org/drawingml/2006/main" noGrp="1"/>
          </p:cNvSpPr>
          <p:nvPr/>
        </p:nvSpPr>
        <p:spPr>
          <a:xfrm xmlns:a="http://schemas.openxmlformats.org/drawingml/2006/main">
            <a:off x="2362200" y="21336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Visible input for this call</a:t>
            </a:r>
          </a:p>
        </p:txBody>
      </p:sp>
      <p:sp>
        <p:nvSpPr>
          <p:cNvPr id="12" name="">
            <a:extLst xmlns:a="http://schemas.openxmlformats.org/drawingml/2006/main">
              <a:ext uri="{FF2B5EF4-FFF2-40B4-BE49-F238E27FC236}">
                <a16:creationId xmlns:a16="http://schemas.microsoft.com/office/drawing/2014/main" id="{A9E3B3B6-CEEB-4AFF-98C9-FAE667273E5E}"/>
              </a:ext>
            </a:extLst>
          </p:cNvPr>
          <p:cNvSpPr>
            <a:spLocks xmlns:a="http://schemas.openxmlformats.org/drawingml/2006/main" noGrp="1"/>
          </p:cNvSpPr>
          <p:nvPr/>
        </p:nvSpPr>
        <p:spPr>
          <a:xfrm xmlns:a="http://schemas.openxmlformats.org/drawingml/2006/main">
            <a:off x="5429250" y="21336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The paper the model reads now</a:t>
            </a:r>
          </a:p>
        </p:txBody>
      </p:sp>
      <p:sp>
        <p:nvSpPr>
          <p:cNvPr id="13" name="">
            <a:extLst xmlns:a="http://schemas.openxmlformats.org/drawingml/2006/main">
              <a:ext uri="{FF2B5EF4-FFF2-40B4-BE49-F238E27FC236}">
                <a16:creationId xmlns:a16="http://schemas.microsoft.com/office/drawing/2014/main" id="{BA0E360A-B74E-4FAA-B1B1-05082240B641}"/>
              </a:ext>
            </a:extLst>
          </p:cNvPr>
          <p:cNvSpPr>
            <a:spLocks xmlns:a="http://schemas.openxmlformats.org/drawingml/2006/main" noGrp="1"/>
          </p:cNvSpPr>
          <p:nvPr/>
        </p:nvSpPr>
        <p:spPr>
          <a:xfrm xmlns:a="http://schemas.openxmlformats.org/drawingml/2006/main">
            <a:off x="8782050" y="21336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Training data</a:t>
            </a:r>
          </a:p>
        </p:txBody>
      </p:sp>
      <p:sp>
        <p:nvSpPr>
          <p:cNvPr id="14" name="">
            <a:extLst xmlns:a="http://schemas.openxmlformats.org/drawingml/2006/main">
              <a:ext uri="{FF2B5EF4-FFF2-40B4-BE49-F238E27FC236}">
                <a16:creationId xmlns:a16="http://schemas.microsoft.com/office/drawing/2014/main" id="{63B668A1-2114-4973-AB2E-DCBB9853CA85}"/>
              </a:ext>
            </a:extLst>
          </p:cNvPr>
          <p:cNvSpPr>
            <a:spLocks xmlns:a="http://schemas.openxmlformats.org/drawingml/2006/main" noGrp="1"/>
          </p:cNvSpPr>
          <p:nvPr/>
        </p:nvSpPr>
        <p:spPr>
          <a:xfrm xmlns:a="http://schemas.openxmlformats.org/drawingml/2006/main">
            <a:off x="609600" y="2667000"/>
            <a:ext cx="10972800" cy="628650"/>
          </a:xfrm>
          <a:prstGeom xmlns:a="http://schemas.openxmlformats.org/drawingml/2006/main" prst="roundRect">
            <a:avLst>
              <a:gd name="adj" fmla="val 9091"/>
            </a:avLst>
          </a:prstGeom>
          <a:solidFill xmlns:a="http://schemas.openxmlformats.org/drawingml/2006/main">
            <a:srgbClr val="EEF6FF"/>
          </a:solidFill>
          <a:ln xmlns:a="http://schemas.openxmlformats.org/drawingml/2006/main" w="10478">
            <a:solidFill>
              <a:srgbClr val="B9D4F6"/>
            </a:solidFill>
            <a:prstDash val="solid"/>
          </a:ln>
        </p:spPr>
      </p:sp>
      <p:sp>
        <p:nvSpPr>
          <p:cNvPr id="15" name="">
            <a:extLst xmlns:a="http://schemas.openxmlformats.org/drawingml/2006/main">
              <a:ext uri="{FF2B5EF4-FFF2-40B4-BE49-F238E27FC236}">
                <a16:creationId xmlns:a16="http://schemas.microsoft.com/office/drawing/2014/main" id="{E5DE0AF9-3145-41D5-9096-0BAB3AF17363}"/>
              </a:ext>
            </a:extLst>
          </p:cNvPr>
          <p:cNvSpPr>
            <a:spLocks xmlns:a="http://schemas.openxmlformats.org/drawingml/2006/main" noGrp="1"/>
          </p:cNvSpPr>
          <p:nvPr/>
        </p:nvSpPr>
        <p:spPr>
          <a:xfrm xmlns:a="http://schemas.openxmlformats.org/drawingml/2006/main">
            <a:off x="704850" y="28194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Prompt cache</a:t>
            </a:r>
          </a:p>
        </p:txBody>
      </p:sp>
      <p:sp>
        <p:nvSpPr>
          <p:cNvPr id="16" name="">
            <a:extLst xmlns:a="http://schemas.openxmlformats.org/drawingml/2006/main">
              <a:ext uri="{FF2B5EF4-FFF2-40B4-BE49-F238E27FC236}">
                <a16:creationId xmlns:a16="http://schemas.microsoft.com/office/drawing/2014/main" id="{77AA4D96-EBE1-45F6-84B1-00A19EA97510}"/>
              </a:ext>
            </a:extLst>
          </p:cNvPr>
          <p:cNvSpPr>
            <a:spLocks xmlns:a="http://schemas.openxmlformats.org/drawingml/2006/main" noGrp="1"/>
          </p:cNvSpPr>
          <p:nvPr/>
        </p:nvSpPr>
        <p:spPr>
          <a:xfrm xmlns:a="http://schemas.openxmlformats.org/drawingml/2006/main">
            <a:off x="2362200" y="28194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Reuses repeated input prefix</a:t>
            </a:r>
          </a:p>
        </p:txBody>
      </p:sp>
      <p:sp>
        <p:nvSpPr>
          <p:cNvPr id="17" name="">
            <a:extLst xmlns:a="http://schemas.openxmlformats.org/drawingml/2006/main">
              <a:ext uri="{FF2B5EF4-FFF2-40B4-BE49-F238E27FC236}">
                <a16:creationId xmlns:a16="http://schemas.microsoft.com/office/drawing/2014/main" id="{D03BC8FC-8387-4A29-8C5A-AD3EC047893F}"/>
              </a:ext>
            </a:extLst>
          </p:cNvPr>
          <p:cNvSpPr>
            <a:spLocks xmlns:a="http://schemas.openxmlformats.org/drawingml/2006/main" noGrp="1"/>
          </p:cNvSpPr>
          <p:nvPr/>
        </p:nvSpPr>
        <p:spPr>
          <a:xfrm xmlns:a="http://schemas.openxmlformats.org/drawingml/2006/main">
            <a:off x="5429250" y="28194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Same paper, faster repeated top</a:t>
            </a:r>
          </a:p>
        </p:txBody>
      </p:sp>
      <p:sp>
        <p:nvSpPr>
          <p:cNvPr id="18" name="">
            <a:extLst xmlns:a="http://schemas.openxmlformats.org/drawingml/2006/main">
              <a:ext uri="{FF2B5EF4-FFF2-40B4-BE49-F238E27FC236}">
                <a16:creationId xmlns:a16="http://schemas.microsoft.com/office/drawing/2014/main" id="{FF48AEC8-1A59-416E-BEBC-513CBDE6AFA7}"/>
              </a:ext>
            </a:extLst>
          </p:cNvPr>
          <p:cNvSpPr>
            <a:spLocks xmlns:a="http://schemas.openxmlformats.org/drawingml/2006/main" noGrp="1"/>
          </p:cNvSpPr>
          <p:nvPr/>
        </p:nvSpPr>
        <p:spPr>
          <a:xfrm xmlns:a="http://schemas.openxmlformats.org/drawingml/2006/main">
            <a:off x="8782050" y="28194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Memory</a:t>
            </a:r>
          </a:p>
        </p:txBody>
      </p:sp>
      <p:sp>
        <p:nvSpPr>
          <p:cNvPr id="19" name="">
            <a:extLst xmlns:a="http://schemas.openxmlformats.org/drawingml/2006/main">
              <a:ext uri="{FF2B5EF4-FFF2-40B4-BE49-F238E27FC236}">
                <a16:creationId xmlns:a16="http://schemas.microsoft.com/office/drawing/2014/main" id="{76D87BD6-A0F2-4175-B960-4D0CB19444E7}"/>
              </a:ext>
            </a:extLst>
          </p:cNvPr>
          <p:cNvSpPr>
            <a:spLocks xmlns:a="http://schemas.openxmlformats.org/drawingml/2006/main" noGrp="1"/>
          </p:cNvSpPr>
          <p:nvPr/>
        </p:nvSpPr>
        <p:spPr>
          <a:xfrm xmlns:a="http://schemas.openxmlformats.org/drawingml/2006/main">
            <a:off x="609600" y="3352800"/>
            <a:ext cx="10972800" cy="628650"/>
          </a:xfrm>
          <a:prstGeom xmlns:a="http://schemas.openxmlformats.org/drawingml/2006/main" prst="roundRect">
            <a:avLst>
              <a:gd name="adj" fmla="val 9091"/>
            </a:avLst>
          </a:prstGeom>
          <a:solidFill xmlns:a="http://schemas.openxmlformats.org/drawingml/2006/main">
            <a:srgbClr val="F8FBFF"/>
          </a:solidFill>
          <a:ln xmlns:a="http://schemas.openxmlformats.org/drawingml/2006/main" w="10478">
            <a:solidFill>
              <a:srgbClr val="B9D4F6"/>
            </a:solidFill>
            <a:prstDash val="solid"/>
          </a:ln>
        </p:spPr>
      </p:sp>
      <p:sp>
        <p:nvSpPr>
          <p:cNvPr id="20" name="">
            <a:extLst xmlns:a="http://schemas.openxmlformats.org/drawingml/2006/main">
              <a:ext uri="{FF2B5EF4-FFF2-40B4-BE49-F238E27FC236}">
                <a16:creationId xmlns:a16="http://schemas.microsoft.com/office/drawing/2014/main" id="{74E3714E-E4BA-41C8-A17D-1D05F0336391}"/>
              </a:ext>
            </a:extLst>
          </p:cNvPr>
          <p:cNvSpPr>
            <a:spLocks xmlns:a="http://schemas.openxmlformats.org/drawingml/2006/main" noGrp="1"/>
          </p:cNvSpPr>
          <p:nvPr/>
        </p:nvSpPr>
        <p:spPr>
          <a:xfrm xmlns:a="http://schemas.openxmlformats.org/drawingml/2006/main">
            <a:off x="704850" y="35052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Compacting</a:t>
            </a:r>
          </a:p>
        </p:txBody>
      </p:sp>
      <p:sp>
        <p:nvSpPr>
          <p:cNvPr id="21" name="">
            <a:extLst xmlns:a="http://schemas.openxmlformats.org/drawingml/2006/main">
              <a:ext uri="{FF2B5EF4-FFF2-40B4-BE49-F238E27FC236}">
                <a16:creationId xmlns:a16="http://schemas.microsoft.com/office/drawing/2014/main" id="{E5AF1625-C631-484D-9B8E-17918CBC9B57}"/>
              </a:ext>
            </a:extLst>
          </p:cNvPr>
          <p:cNvSpPr>
            <a:spLocks xmlns:a="http://schemas.openxmlformats.org/drawingml/2006/main" noGrp="1"/>
          </p:cNvSpPr>
          <p:nvPr/>
        </p:nvSpPr>
        <p:spPr>
          <a:xfrm xmlns:a="http://schemas.openxmlformats.org/drawingml/2006/main">
            <a:off x="2362200" y="35052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Summarizes old content</a:t>
            </a:r>
          </a:p>
        </p:txBody>
      </p:sp>
      <p:sp>
        <p:nvSpPr>
          <p:cNvPr id="22" name="">
            <a:extLst xmlns:a="http://schemas.openxmlformats.org/drawingml/2006/main">
              <a:ext uri="{FF2B5EF4-FFF2-40B4-BE49-F238E27FC236}">
                <a16:creationId xmlns:a16="http://schemas.microsoft.com/office/drawing/2014/main" id="{3885015D-E170-48F5-A80E-D4CF905F09DD}"/>
              </a:ext>
            </a:extLst>
          </p:cNvPr>
          <p:cNvSpPr>
            <a:spLocks xmlns:a="http://schemas.openxmlformats.org/drawingml/2006/main" noGrp="1"/>
          </p:cNvSpPr>
          <p:nvPr/>
        </p:nvSpPr>
        <p:spPr>
          <a:xfrm xmlns:a="http://schemas.openxmlformats.org/drawingml/2006/main">
            <a:off x="5429250" y="35052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Smaller replacement paper section</a:t>
            </a:r>
          </a:p>
        </p:txBody>
      </p:sp>
      <p:sp>
        <p:nvSpPr>
          <p:cNvPr id="23" name="">
            <a:extLst xmlns:a="http://schemas.openxmlformats.org/drawingml/2006/main">
              <a:ext uri="{FF2B5EF4-FFF2-40B4-BE49-F238E27FC236}">
                <a16:creationId xmlns:a16="http://schemas.microsoft.com/office/drawing/2014/main" id="{371EAC3C-1D8E-4017-8AB7-AB09621C1530}"/>
              </a:ext>
            </a:extLst>
          </p:cNvPr>
          <p:cNvSpPr>
            <a:spLocks xmlns:a="http://schemas.openxmlformats.org/drawingml/2006/main" noGrp="1"/>
          </p:cNvSpPr>
          <p:nvPr/>
        </p:nvSpPr>
        <p:spPr>
          <a:xfrm xmlns:a="http://schemas.openxmlformats.org/drawingml/2006/main">
            <a:off x="8782050" y="3505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Exact history</a:t>
            </a:r>
          </a:p>
        </p:txBody>
      </p:sp>
      <p:sp>
        <p:nvSpPr>
          <p:cNvPr id="24" name="">
            <a:extLst xmlns:a="http://schemas.openxmlformats.org/drawingml/2006/main">
              <a:ext uri="{FF2B5EF4-FFF2-40B4-BE49-F238E27FC236}">
                <a16:creationId xmlns:a16="http://schemas.microsoft.com/office/drawing/2014/main" id="{BC5912BD-A3CB-4E60-BFA0-2C95693399B7}"/>
              </a:ext>
            </a:extLst>
          </p:cNvPr>
          <p:cNvSpPr>
            <a:spLocks xmlns:a="http://schemas.openxmlformats.org/drawingml/2006/main" noGrp="1"/>
          </p:cNvSpPr>
          <p:nvPr/>
        </p:nvSpPr>
        <p:spPr>
          <a:xfrm xmlns:a="http://schemas.openxmlformats.org/drawingml/2006/main">
            <a:off x="609600" y="4038600"/>
            <a:ext cx="10972800" cy="628650"/>
          </a:xfrm>
          <a:prstGeom xmlns:a="http://schemas.openxmlformats.org/drawingml/2006/main" prst="roundRect">
            <a:avLst>
              <a:gd name="adj" fmla="val 9091"/>
            </a:avLst>
          </a:prstGeom>
          <a:solidFill xmlns:a="http://schemas.openxmlformats.org/drawingml/2006/main">
            <a:srgbClr val="EEF6FF"/>
          </a:solidFill>
          <a:ln xmlns:a="http://schemas.openxmlformats.org/drawingml/2006/main" w="10478">
            <a:solidFill>
              <a:srgbClr val="B9D4F6"/>
            </a:solidFill>
            <a:prstDash val="solid"/>
          </a:ln>
        </p:spPr>
      </p:sp>
      <p:sp>
        <p:nvSpPr>
          <p:cNvPr id="25" name="">
            <a:extLst xmlns:a="http://schemas.openxmlformats.org/drawingml/2006/main">
              <a:ext uri="{FF2B5EF4-FFF2-40B4-BE49-F238E27FC236}">
                <a16:creationId xmlns:a16="http://schemas.microsoft.com/office/drawing/2014/main" id="{D929D176-AF19-4812-AFCC-4C8ABADDF6D5}"/>
              </a:ext>
            </a:extLst>
          </p:cNvPr>
          <p:cNvSpPr>
            <a:spLocks xmlns:a="http://schemas.openxmlformats.org/drawingml/2006/main" noGrp="1"/>
          </p:cNvSpPr>
          <p:nvPr/>
        </p:nvSpPr>
        <p:spPr>
          <a:xfrm xmlns:a="http://schemas.openxmlformats.org/drawingml/2006/main">
            <a:off x="704850" y="41910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Retrieval</a:t>
            </a:r>
          </a:p>
        </p:txBody>
      </p:sp>
      <p:sp>
        <p:nvSpPr>
          <p:cNvPr id="26" name="">
            <a:extLst xmlns:a="http://schemas.openxmlformats.org/drawingml/2006/main">
              <a:ext uri="{FF2B5EF4-FFF2-40B4-BE49-F238E27FC236}">
                <a16:creationId xmlns:a16="http://schemas.microsoft.com/office/drawing/2014/main" id="{9B7225D5-5257-4339-9FB7-97CA3F1D5295}"/>
              </a:ext>
            </a:extLst>
          </p:cNvPr>
          <p:cNvSpPr>
            <a:spLocks xmlns:a="http://schemas.openxmlformats.org/drawingml/2006/main" noGrp="1"/>
          </p:cNvSpPr>
          <p:nvPr/>
        </p:nvSpPr>
        <p:spPr>
          <a:xfrm xmlns:a="http://schemas.openxmlformats.org/drawingml/2006/main">
            <a:off x="2362200" y="41910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Fetches external information</a:t>
            </a:r>
          </a:p>
        </p:txBody>
      </p:sp>
      <p:sp>
        <p:nvSpPr>
          <p:cNvPr id="27" name="">
            <a:extLst xmlns:a="http://schemas.openxmlformats.org/drawingml/2006/main">
              <a:ext uri="{FF2B5EF4-FFF2-40B4-BE49-F238E27FC236}">
                <a16:creationId xmlns:a16="http://schemas.microsoft.com/office/drawing/2014/main" id="{37C17B2E-3611-4EDD-9A7A-855B4212DA1C}"/>
              </a:ext>
            </a:extLst>
          </p:cNvPr>
          <p:cNvSpPr>
            <a:spLocks xmlns:a="http://schemas.openxmlformats.org/drawingml/2006/main" noGrp="1"/>
          </p:cNvSpPr>
          <p:nvPr/>
        </p:nvSpPr>
        <p:spPr>
          <a:xfrm xmlns:a="http://schemas.openxmlformats.org/drawingml/2006/main">
            <a:off x="5429250" y="41910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Adds selected notes to paper</a:t>
            </a:r>
          </a:p>
        </p:txBody>
      </p:sp>
      <p:sp>
        <p:nvSpPr>
          <p:cNvPr id="28" name="">
            <a:extLst xmlns:a="http://schemas.openxmlformats.org/drawingml/2006/main">
              <a:ext uri="{FF2B5EF4-FFF2-40B4-BE49-F238E27FC236}">
                <a16:creationId xmlns:a16="http://schemas.microsoft.com/office/drawing/2014/main" id="{9F1599E0-069D-4AE8-B5B0-BFF95D3B0BFB}"/>
              </a:ext>
            </a:extLst>
          </p:cNvPr>
          <p:cNvSpPr>
            <a:spLocks xmlns:a="http://schemas.openxmlformats.org/drawingml/2006/main" noGrp="1"/>
          </p:cNvSpPr>
          <p:nvPr/>
        </p:nvSpPr>
        <p:spPr>
          <a:xfrm xmlns:a="http://schemas.openxmlformats.org/drawingml/2006/main">
            <a:off x="8782050" y="4191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Always-on knowledge</a:t>
            </a:r>
          </a:p>
        </p:txBody>
      </p:sp>
      <p:sp>
        <p:nvSpPr>
          <p:cNvPr id="29" name="">
            <a:extLst xmlns:a="http://schemas.openxmlformats.org/drawingml/2006/main">
              <a:ext uri="{FF2B5EF4-FFF2-40B4-BE49-F238E27FC236}">
                <a16:creationId xmlns:a16="http://schemas.microsoft.com/office/drawing/2014/main" id="{35D5B86F-B674-4B2B-96FE-95E76BE96634}"/>
              </a:ext>
            </a:extLst>
          </p:cNvPr>
          <p:cNvSpPr>
            <a:spLocks xmlns:a="http://schemas.openxmlformats.org/drawingml/2006/main" noGrp="1"/>
          </p:cNvSpPr>
          <p:nvPr/>
        </p:nvSpPr>
        <p:spPr>
          <a:xfrm xmlns:a="http://schemas.openxmlformats.org/drawingml/2006/main">
            <a:off x="609600" y="4724400"/>
            <a:ext cx="10972800" cy="628650"/>
          </a:xfrm>
          <a:prstGeom xmlns:a="http://schemas.openxmlformats.org/drawingml/2006/main" prst="roundRect">
            <a:avLst>
              <a:gd name="adj" fmla="val 9091"/>
            </a:avLst>
          </a:prstGeom>
          <a:solidFill xmlns:a="http://schemas.openxmlformats.org/drawingml/2006/main">
            <a:srgbClr val="F8FBFF"/>
          </a:solidFill>
          <a:ln xmlns:a="http://schemas.openxmlformats.org/drawingml/2006/main" w="10478">
            <a:solidFill>
              <a:srgbClr val="B9D4F6"/>
            </a:solidFill>
            <a:prstDash val="solid"/>
          </a:ln>
        </p:spPr>
      </p:sp>
      <p:sp>
        <p:nvSpPr>
          <p:cNvPr id="30" name="">
            <a:extLst xmlns:a="http://schemas.openxmlformats.org/drawingml/2006/main">
              <a:ext uri="{FF2B5EF4-FFF2-40B4-BE49-F238E27FC236}">
                <a16:creationId xmlns:a16="http://schemas.microsoft.com/office/drawing/2014/main" id="{9FAAB0AE-AE2E-43BF-B61A-C3B1BB482751}"/>
              </a:ext>
            </a:extLst>
          </p:cNvPr>
          <p:cNvSpPr>
            <a:spLocks xmlns:a="http://schemas.openxmlformats.org/drawingml/2006/main" noGrp="1"/>
          </p:cNvSpPr>
          <p:nvPr/>
        </p:nvSpPr>
        <p:spPr>
          <a:xfrm xmlns:a="http://schemas.openxmlformats.org/drawingml/2006/main">
            <a:off x="704850" y="48768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04AAD"/>
                </a:solidFill>
              </a:defRPr>
            </a:pPr>
            <a:r>
              <a:rPr sz="1200" b="1" i="0">
                <a:solidFill>
                  <a:srgbClr val="004AAD"/>
                </a:solidFill>
              </a:rPr>
              <a:t>Memory</a:t>
            </a:r>
          </a:p>
        </p:txBody>
      </p:sp>
      <p:sp>
        <p:nvSpPr>
          <p:cNvPr id="31" name="">
            <a:extLst xmlns:a="http://schemas.openxmlformats.org/drawingml/2006/main">
              <a:ext uri="{FF2B5EF4-FFF2-40B4-BE49-F238E27FC236}">
                <a16:creationId xmlns:a16="http://schemas.microsoft.com/office/drawing/2014/main" id="{58DF01FC-DED4-4D09-B5EA-35B3535F38DC}"/>
              </a:ext>
            </a:extLst>
          </p:cNvPr>
          <p:cNvSpPr>
            <a:spLocks xmlns:a="http://schemas.openxmlformats.org/drawingml/2006/main" noGrp="1"/>
          </p:cNvSpPr>
          <p:nvPr/>
        </p:nvSpPr>
        <p:spPr>
          <a:xfrm xmlns:a="http://schemas.openxmlformats.org/drawingml/2006/main">
            <a:off x="2362200" y="48768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Stores durable facts/preferences</a:t>
            </a:r>
          </a:p>
        </p:txBody>
      </p:sp>
      <p:sp>
        <p:nvSpPr>
          <p:cNvPr id="32" name="">
            <a:extLst xmlns:a="http://schemas.openxmlformats.org/drawingml/2006/main">
              <a:ext uri="{FF2B5EF4-FFF2-40B4-BE49-F238E27FC236}">
                <a16:creationId xmlns:a16="http://schemas.microsoft.com/office/drawing/2014/main" id="{458FAAE2-E904-47F9-8E19-771979C56C3D}"/>
              </a:ext>
            </a:extLst>
          </p:cNvPr>
          <p:cNvSpPr>
            <a:spLocks xmlns:a="http://schemas.openxmlformats.org/drawingml/2006/main" noGrp="1"/>
          </p:cNvSpPr>
          <p:nvPr/>
        </p:nvSpPr>
        <p:spPr>
          <a:xfrm xmlns:a="http://schemas.openxmlformats.org/drawingml/2006/main">
            <a:off x="5429250" y="48768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Can be written back onto paper</a:t>
            </a:r>
          </a:p>
        </p:txBody>
      </p:sp>
      <p:sp>
        <p:nvSpPr>
          <p:cNvPr id="33" name="">
            <a:extLst xmlns:a="http://schemas.openxmlformats.org/drawingml/2006/main">
              <a:ext uri="{FF2B5EF4-FFF2-40B4-BE49-F238E27FC236}">
                <a16:creationId xmlns:a16="http://schemas.microsoft.com/office/drawing/2014/main" id="{911F4EDC-C38E-40D6-B62E-5585ED213292}"/>
              </a:ext>
            </a:extLst>
          </p:cNvPr>
          <p:cNvSpPr>
            <a:spLocks xmlns:a="http://schemas.openxmlformats.org/drawingml/2006/main" noGrp="1"/>
          </p:cNvSpPr>
          <p:nvPr/>
        </p:nvSpPr>
        <p:spPr>
          <a:xfrm xmlns:a="http://schemas.openxmlformats.org/drawingml/2006/main">
            <a:off x="8782050" y="48768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061A45"/>
                </a:solidFill>
              </a:defRPr>
            </a:pPr>
            <a:r>
              <a:rPr sz="1200" b="0" i="0">
                <a:solidFill>
                  <a:srgbClr val="061A45"/>
                </a:solidFill>
              </a:rPr>
              <a:t>Current context</a:t>
            </a:r>
          </a:p>
        </p:txBody>
      </p:sp>
      <p:sp>
        <p:nvSpPr>
          <p:cNvPr id="34" name="">
            <a:extLst xmlns:a="http://schemas.openxmlformats.org/drawingml/2006/main">
              <a:ext uri="{FF2B5EF4-FFF2-40B4-BE49-F238E27FC236}">
                <a16:creationId xmlns:a16="http://schemas.microsoft.com/office/drawing/2014/main" id="{C9B3196D-6DE2-4C39-8EDC-BD4ACBF88D3F}"/>
              </a:ext>
            </a:extLst>
          </p:cNvPr>
          <p:cNvSpPr>
            <a:spLocks xmlns:a="http://schemas.openxmlformats.org/drawingml/2006/main" noGrp="1"/>
          </p:cNvSpPr>
          <p:nvPr/>
        </p:nvSpPr>
        <p:spPr>
          <a:xfrm xmlns:a="http://schemas.openxmlformats.org/drawingml/2006/main">
            <a:off x="1200150" y="5657850"/>
            <a:ext cx="9791700" cy="609600"/>
          </a:xfrm>
          <a:prstGeom xmlns:a="http://schemas.openxmlformats.org/drawingml/2006/main" prst="roundRect">
            <a:avLst>
              <a:gd name="adj" fmla="val 12500"/>
            </a:avLst>
          </a:prstGeom>
          <a:solidFill xmlns:a="http://schemas.openxmlformats.org/drawingml/2006/main">
            <a:srgbClr val="FFF7DF"/>
          </a:solidFill>
          <a:ln xmlns:a="http://schemas.openxmlformats.org/drawingml/2006/main" w="10478">
            <a:solidFill>
              <a:srgbClr val="F0D891"/>
            </a:solidFill>
            <a:prstDash val="solid"/>
          </a:ln>
        </p:spPr>
      </p:sp>
      <p:sp>
        <p:nvSpPr>
          <p:cNvPr id="35" name="">
            <a:extLst xmlns:a="http://schemas.openxmlformats.org/drawingml/2006/main">
              <a:ext uri="{FF2B5EF4-FFF2-40B4-BE49-F238E27FC236}">
                <a16:creationId xmlns:a16="http://schemas.microsoft.com/office/drawing/2014/main" id="{4DE5C186-F55D-4567-B96B-32A4115F5ED3}"/>
              </a:ext>
            </a:extLst>
          </p:cNvPr>
          <p:cNvSpPr>
            <a:spLocks xmlns:a="http://schemas.openxmlformats.org/drawingml/2006/main" noGrp="1"/>
          </p:cNvSpPr>
          <p:nvPr/>
        </p:nvSpPr>
        <p:spPr>
          <a:xfrm xmlns:a="http://schemas.openxmlformats.org/drawingml/2006/main">
            <a:off x="1562100" y="58483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D88A00"/>
                </a:solidFill>
              </a:defRPr>
            </a:pPr>
            <a:r>
              <a:rPr sz="1575" b="1" i="0">
                <a:solidFill>
                  <a:srgbClr val="D88A00"/>
                </a:solidFill>
              </a:rPr>
              <a:t>Final rule</a:t>
            </a:r>
          </a:p>
        </p:txBody>
      </p:sp>
      <p:sp>
        <p:nvSpPr>
          <p:cNvPr id="36" name="">
            <a:extLst xmlns:a="http://schemas.openxmlformats.org/drawingml/2006/main">
              <a:ext uri="{FF2B5EF4-FFF2-40B4-BE49-F238E27FC236}">
                <a16:creationId xmlns:a16="http://schemas.microsoft.com/office/drawing/2014/main" id="{074E2BDA-2A04-43C7-A37F-67F8C8B30C5F}"/>
              </a:ext>
            </a:extLst>
          </p:cNvPr>
          <p:cNvSpPr>
            <a:spLocks xmlns:a="http://schemas.openxmlformats.org/drawingml/2006/main" noGrp="1"/>
          </p:cNvSpPr>
          <p:nvPr/>
        </p:nvSpPr>
        <p:spPr>
          <a:xfrm xmlns:a="http://schemas.openxmlformats.org/drawingml/2006/main">
            <a:off x="3048000" y="58483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61A45"/>
                </a:solidFill>
              </a:defRPr>
            </a:pPr>
            <a:r>
              <a:rPr sz="1575" b="0" i="0">
                <a:solidFill>
                  <a:srgbClr val="061A45"/>
                </a:solidFill>
              </a:rPr>
              <a:t>If it is not on the visible paper, cache does not make the model know it.</a:t>
            </a:r>
          </a:p>
        </p:txBody>
      </p:sp>
    </p:spTree>
    <p:extLst>
      <p:ext uri="{BB962C8B-B14F-4D97-AF65-F5344CB8AC3E}">
        <p14:creationId xmlns:p14="http://schemas.microsoft.com/office/powerpoint/2010/main" val="564791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2026-07-09T10:18:30.6850000Z</dcterms:created>
  <dcterms:modified xsi:type="dcterms:W3CDTF">2026-07-09T10:18:30.6850000Z</dcterms:modified>
</coreProperties>
</file>