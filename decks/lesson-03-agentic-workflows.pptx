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5376fddb84cdd" /><Relationship Type="http://schemas.openxmlformats.org/officeDocument/2006/relationships/extended-properties" Target="/docProps/app.xml" Id="Rc6d2b56692d54628" /><Relationship Type="http://schemas.openxmlformats.org/officeDocument/2006/relationships/officeDocument" Target="/ppt/presentation.xml" Id="R65ad4d3f162e45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551d2b49e436d"/>
  </p:sldMasterIdLst>
  <p:notesMasterIdLst>
    <p:notesMasterId xmlns:r="http://schemas.openxmlformats.org/officeDocument/2006/relationships" r:id="R38f3e8c82c094f50"/>
  </p:notesMasterIdLst>
  <p:sldIdLst>
    <p:sldId xmlns:r="http://schemas.openxmlformats.org/officeDocument/2006/relationships" id="256" r:id="Ra0eaa8332585457b"/>
    <p:sldId xmlns:r="http://schemas.openxmlformats.org/officeDocument/2006/relationships" id="257" r:id="R225a58ba51f14a0a"/>
    <p:sldId xmlns:r="http://schemas.openxmlformats.org/officeDocument/2006/relationships" id="258" r:id="Rb8e3dc6d17da4d1b"/>
    <p:sldId xmlns:r="http://schemas.openxmlformats.org/officeDocument/2006/relationships" id="259" r:id="R9c3550ce0c114f84"/>
    <p:sldId xmlns:r="http://schemas.openxmlformats.org/officeDocument/2006/relationships" id="260" r:id="R7a0c501aad524c38"/>
    <p:sldId xmlns:r="http://schemas.openxmlformats.org/officeDocument/2006/relationships" id="261" r:id="Rf4498761121e4413"/>
    <p:sldId xmlns:r="http://schemas.openxmlformats.org/officeDocument/2006/relationships" id="262" r:id="Ra4a131dfefea448a"/>
    <p:sldId xmlns:r="http://schemas.openxmlformats.org/officeDocument/2006/relationships" id="263" r:id="R877cdc4f681f48fd"/>
    <p:sldId xmlns:r="http://schemas.openxmlformats.org/officeDocument/2006/relationships" id="264" r:id="R4a5d829e8c3a45bb"/>
    <p:sldId xmlns:r="http://schemas.openxmlformats.org/officeDocument/2006/relationships" id="265" r:id="Rda5a938291a84a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aa1dba7394822" /><Relationship Type="http://schemas.openxmlformats.org/officeDocument/2006/relationships/slideMaster" Target="/ppt/slideMasters/slideMaster1.xml" Id="Rc5b551d2b49e436d" /><Relationship Type="http://schemas.openxmlformats.org/officeDocument/2006/relationships/notesMaster" Target="/ppt/notesMasters/notesMaster1.xml" Id="R38f3e8c82c094f50" /><Relationship Type="http://schemas.openxmlformats.org/officeDocument/2006/relationships/presProps" Target="/ppt/presProps.xml" Id="Rc6081c45d9614311" /><Relationship Type="http://schemas.openxmlformats.org/officeDocument/2006/relationships/tableStyles" Target="/ppt/tableStyles.xml" Id="R87a80861097b4cba" /><Relationship Type="http://schemas.openxmlformats.org/officeDocument/2006/relationships/slide" Target="/ppt/slides/slide1.xml" Id="Ra0eaa8332585457b" /><Relationship Type="http://schemas.openxmlformats.org/officeDocument/2006/relationships/slide" Target="/ppt/slides/slide2.xml" Id="R225a58ba51f14a0a" /><Relationship Type="http://schemas.openxmlformats.org/officeDocument/2006/relationships/slide" Target="/ppt/slides/slide3.xml" Id="Rb8e3dc6d17da4d1b" /><Relationship Type="http://schemas.openxmlformats.org/officeDocument/2006/relationships/slide" Target="/ppt/slides/slide4.xml" Id="R9c3550ce0c114f84" /><Relationship Type="http://schemas.openxmlformats.org/officeDocument/2006/relationships/slide" Target="/ppt/slides/slide5.xml" Id="R7a0c501aad524c38" /><Relationship Type="http://schemas.openxmlformats.org/officeDocument/2006/relationships/slide" Target="/ppt/slides/slide6.xml" Id="Rf4498761121e4413" /><Relationship Type="http://schemas.openxmlformats.org/officeDocument/2006/relationships/slide" Target="/ppt/slides/slide7.xml" Id="Ra4a131dfefea448a" /><Relationship Type="http://schemas.openxmlformats.org/officeDocument/2006/relationships/slide" Target="/ppt/slides/slide8.xml" Id="R877cdc4f681f48fd" /><Relationship Type="http://schemas.openxmlformats.org/officeDocument/2006/relationships/slide" Target="/ppt/slides/slide9.xml" Id="R4a5d829e8c3a45bb" /><Relationship Type="http://schemas.openxmlformats.org/officeDocument/2006/relationships/slide" Target="/ppt/slides/slide10.xml" Id="Rda5a938291a84a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c424083c6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ac85ef4964ac5" /><Relationship Type="http://schemas.openxmlformats.org/officeDocument/2006/relationships/notesMaster" Target="/ppt/notesMasters/notesMaster1.xml" Id="Rce76d0db6d9b40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cfacdf05d4aae" /><Relationship Type="http://schemas.openxmlformats.org/officeDocument/2006/relationships/notesMaster" Target="/ppt/notesMasters/notesMaster1.xml" Id="Rdb6a98c6eb51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03c37f695404b" /><Relationship Type="http://schemas.openxmlformats.org/officeDocument/2006/relationships/notesMaster" Target="/ppt/notesMasters/notesMaster1.xml" Id="Ra62c32ae1d06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9e2e6511044af" /><Relationship Type="http://schemas.openxmlformats.org/officeDocument/2006/relationships/notesMaster" Target="/ppt/notesMasters/notesMaster1.xml" Id="Rfa9c79c15bc74b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c374e0f78e4aec" /><Relationship Type="http://schemas.openxmlformats.org/officeDocument/2006/relationships/notesMaster" Target="/ppt/notesMasters/notesMaster1.xml" Id="R64212b7d00e1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9fd8e580c4d77" /><Relationship Type="http://schemas.openxmlformats.org/officeDocument/2006/relationships/notesMaster" Target="/ppt/notesMasters/notesMaster1.xml" Id="Rb950ebdf794744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4aba40913498a" /><Relationship Type="http://schemas.openxmlformats.org/officeDocument/2006/relationships/notesMaster" Target="/ppt/notesMasters/notesMaster1.xml" Id="R6bfafc6e7009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f7ef00dda048a6" /><Relationship Type="http://schemas.openxmlformats.org/officeDocument/2006/relationships/notesMaster" Target="/ppt/notesMasters/notesMaster1.xml" Id="Rf37e081f99aa41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9d7529a28b43e8" /><Relationship Type="http://schemas.openxmlformats.org/officeDocument/2006/relationships/notesMaster" Target="/ppt/notesMasters/notesMaster1.xml" Id="R58505d2483b640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88ad2d01e44d02" /><Relationship Type="http://schemas.openxmlformats.org/officeDocument/2006/relationships/notesMaster" Target="/ppt/notesMasters/notesMaster1.xml" Id="R7ec946eda9e8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the three lessons. Lesson 1 explained the model and paper. Lesson 2 explained the harness that manages one paper. Lesson 3 explains how complex work uses multiple papers, roles, steps, and feedback loops.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pain concrete. A single agent can do a lot, but large tasks create context pollution, mixed goals, long tool logs, and noisy compacting. This creates the need for isolation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subagent through the paper model. A subagent has its own working paper. It handles a local task and returns only the useful summary or artifact to the main paper.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decision rule. Use subagents when the split reduces noise, enables specialization, or permits safe parallel work. Do not split tiny or tightly coupled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workflow as a stable process with input, output, owner, and gate. It is not just asking the model to continue. It is a rule for passing papers across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each workflow step needs a contract and control points. Hooks and gates are deterministic places where the harness enforces actions such as formatting, tests, approvals, and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chatbot mode and teammate mode. A teammate maintains goals, plans, risks, progress, evidence, and next steps on the paper, instead of only answering isolated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Put autonomy limits in engineering terms. Good collaboration defines allowed actions, approval-required actions, forbidden actions, evidence standards, and stop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loop coding as feedback-driven iteration. The model should not guess in isolation. The harness runs commands, writes logs back, and the agent repairs based 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an end-to-end example. Show how main agent, subagents, human gates, harness tools, tests, hooks, and final reporting fit together without pretending the model directly executes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7b34982fb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0e5c9296bb4d6b" /><Relationship Type="http://schemas.openxmlformats.org/officeDocument/2006/relationships/slideLayout" Target="/ppt/slideLayouts/slideLayout1.xml" Id="R8f74e01a246e44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74e01a246e44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471ef8e9d4018" /><Relationship Type="http://schemas.openxmlformats.org/officeDocument/2006/relationships/notesSlide" Target="/ppt/notesSlides/notesSlide1.xml" Id="R54dfbcee8a4a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f5cce158422a" /><Relationship Type="http://schemas.openxmlformats.org/officeDocument/2006/relationships/notesSlide" Target="/ppt/notesSlides/notesSlide2.xml" Id="R729a95c8e5cb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cd58ea034ba5" /><Relationship Type="http://schemas.openxmlformats.org/officeDocument/2006/relationships/notesSlide" Target="/ppt/notesSlides/notesSlide3.xml" Id="R01887a54ce0f4d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a71265c6c4242" /><Relationship Type="http://schemas.openxmlformats.org/officeDocument/2006/relationships/notesSlide" Target="/ppt/notesSlides/notesSlide4.xml" Id="R9683459e9e03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d4b1e997347ba" /><Relationship Type="http://schemas.openxmlformats.org/officeDocument/2006/relationships/notesSlide" Target="/ppt/notesSlides/notesSlide5.xml" Id="Rceb455c56e7042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af007d1448f2" /><Relationship Type="http://schemas.openxmlformats.org/officeDocument/2006/relationships/notesSlide" Target="/ppt/notesSlides/notesSlide6.xml" Id="Rb23a73b7c4a242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6473b14244cb4" /><Relationship Type="http://schemas.openxmlformats.org/officeDocument/2006/relationships/notesSlide" Target="/ppt/notesSlides/notesSlide7.xml" Id="Rae11e30b960549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3ad2cf35a4003" /><Relationship Type="http://schemas.openxmlformats.org/officeDocument/2006/relationships/notesSlide" Target="/ppt/notesSlides/notesSlide8.xml" Id="R74f7ea741d3f4b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3ca93e8544307" /><Relationship Type="http://schemas.openxmlformats.org/officeDocument/2006/relationships/notesSlide" Target="/ppt/notesSlides/notesSlide9.xml" Id="Raf774379b79e4c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22f6e8464122" /><Relationship Type="http://schemas.openxmlformats.org/officeDocument/2006/relationships/notesSlide" Target="/ppt/notesSlides/notesSlide10.xml" Id="R32d77f2f84bd42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76E36-E5A8-4F4D-9075-84D7AAF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04AAD"/>
                </a:solidFill>
              </a:defRPr>
            </a:pPr>
            <a:r>
              <a:rPr sz="3750" b="1" i="0">
                <a:solidFill>
                  <a:srgbClr val="004AAD"/>
                </a:solidFill>
              </a:rPr>
              <a:t>Lesson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D6BD9-6418-471F-907F-2EE15B6A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061A45"/>
                </a:solidFill>
              </a:defRPr>
            </a:pPr>
            <a:r>
              <a:rPr sz="3750" b="1" i="0">
                <a:solidFill>
                  <a:srgbClr val="061A45"/>
                </a:solidFill>
              </a:rPr>
              <a:t>Agentic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EB459-AF9A-45AB-8C7F-2B84D777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049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004AAD"/>
                </a:solidFill>
              </a:defRPr>
            </a:pPr>
            <a:r>
              <a:rPr sz="1650" b="0" i="1">
                <a:solidFill>
                  <a:srgbClr val="004AAD"/>
                </a:solidFill>
              </a:rPr>
              <a:t>Subagents, Teammates, and Loop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CDB6E-22E2-40DA-AC81-3CBBD58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19644-969C-4A4C-B158-8AD5791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47154-1F80-4345-B4D8-3AF9B42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4AAD"/>
                </a:solidFill>
              </a:defRPr>
            </a:pPr>
            <a:r>
              <a:rPr sz="1500" b="1" i="0">
                <a:solidFill>
                  <a:srgbClr val="004AAD"/>
                </a:solidFill>
              </a:rPr>
              <a:t>Lesson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5F08-A9F6-49AB-8878-A0B99AF4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24003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Model reads and writes the paper.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FE595-1808-402C-9AEF-27168847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9565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C4BEE-B233-4B59-8B88-9033D3E4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D977C-6ECB-4E29-888B-44031684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8A43"/>
                </a:solidFill>
              </a:defRPr>
            </a:pPr>
            <a:r>
              <a:rPr sz="1500" b="1" i="0">
                <a:solidFill>
                  <a:srgbClr val="138A43"/>
                </a:solidFill>
              </a:rPr>
              <a:t>Lesson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968A3-5D4D-4C0F-B011-7494821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28900"/>
            <a:ext cx="24003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Harness manages one paper and its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0BA31-B56D-49FA-9C36-4FBE2288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9565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4A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5E361-2952-4BF5-A039-BB34402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84193-91DD-488F-8CC2-BBEC04AF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88A00"/>
                </a:solidFill>
              </a:defRPr>
            </a:pPr>
            <a:r>
              <a:rPr sz="1500" b="1" i="0">
                <a:solidFill>
                  <a:srgbClr val="D88A00"/>
                </a:solidFill>
              </a:rPr>
              <a:t>Lesson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4460C-BA5E-4CFE-AE88-0DC6A76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24003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Complex work uses multiple papers, roles, steps, and loops.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C1821-2E21-477F-B379-279C9BA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29250"/>
            <a:ext cx="9448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8E39D-E467-4FF5-9F75-675E7C91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Core idea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23CF9-B51A-461C-B526-BA22028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061A45"/>
                </a:solidFill>
              </a:defRPr>
            </a:pPr>
            <a:r>
              <a:rPr sz="1500" b="0" i="0">
                <a:solidFill>
                  <a:srgbClr val="061A45"/>
                </a:solidFill>
              </a:rPr>
              <a:t>Do not just write longer prompts. Split context, roles, steps, and feedback loops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126144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16108-52A9-416E-B638-D233DB9A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One Agent Can Overload One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4BA55-589C-4D44-8A81-C45096AA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Large tasks mix logs, plans, code, errors, requirements, and tests.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03389-170F-4834-AD50-BA1F950D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0156D-2722-498B-848B-C3A9D89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4000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E66B4-054D-4826-89CE-1AB6A1EA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4AAD"/>
                </a:solidFill>
              </a:defRPr>
            </a:pPr>
            <a:r>
              <a:rPr sz="2100" b="1" i="0">
                <a:solidFill>
                  <a:srgbClr val="004AAD"/>
                </a:solidFill>
              </a:rPr>
              <a:t>Single Agent 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DBB76-DDE8-4B0F-BD8D-11C07A66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B0940-496E-45A7-B0F4-34B1081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4AAD"/>
                </a:solidFill>
              </a:defRPr>
            </a:pPr>
            <a:r>
              <a:rPr sz="1200" b="1" i="0">
                <a:solidFill>
                  <a:srgbClr val="004AAD"/>
                </a:solidFill>
              </a:rPr>
              <a:t>search logs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0BE6D-256C-4A79-9EA0-9E1847B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9EFF0-E108-47CB-ADC9-55E05963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479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8A43"/>
                </a:solidFill>
              </a:defRPr>
            </a:pPr>
            <a:r>
              <a:rPr sz="1200" b="1" i="0">
                <a:solidFill>
                  <a:srgbClr val="138A43"/>
                </a:solidFill>
              </a:rPr>
              <a:t>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9BF44-948B-4101-9027-740208FB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BBCAF-33B3-433E-B864-56D08401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956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88A00"/>
                </a:solidFill>
              </a:defRPr>
            </a:pPr>
            <a:r>
              <a:rPr sz="1200" b="1" i="0">
                <a:solidFill>
                  <a:srgbClr val="D88A00"/>
                </a:solidFill>
              </a:rPr>
              <a:t>code snippets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1337-919B-44C9-B82B-D25F324E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FD7F1-DCAE-455D-8FFB-F76A52C2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623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B4AA1"/>
                </a:solidFill>
              </a:defRPr>
            </a:pPr>
            <a:r>
              <a:rPr sz="1200" b="1" i="0">
                <a:solidFill>
                  <a:srgbClr val="6B4AA1"/>
                </a:solidFill>
              </a:rPr>
              <a:t>test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DFE76-203E-4714-8B62-3235F24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000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5AF3A-C907-4105-8219-D9B38AAF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147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C2B2B"/>
                </a:solidFill>
              </a:defRPr>
            </a:pPr>
            <a:r>
              <a:rPr sz="1200" b="1" i="0">
                <a:solidFill>
                  <a:srgbClr val="CC2B2B"/>
                </a:solidFill>
              </a:rPr>
              <a:t>requirements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4AD8D-1D1D-4021-9BDC-92CC289C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1219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1CB0D-922F-43B1-89D2-DD62043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67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C2B2B"/>
                </a:solidFill>
              </a:defRPr>
            </a:pPr>
            <a:r>
              <a:rPr sz="1200" b="1" i="0">
                <a:solidFill>
                  <a:srgbClr val="CC2B2B"/>
                </a:solidFill>
              </a:rPr>
              <a:t>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BDB2C-2B3C-446C-9EAB-A11EF3F8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403CC-67A0-4E16-9063-C802B8E8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4AAD"/>
                </a:solidFill>
              </a:defRPr>
            </a:pPr>
            <a:r>
              <a:rPr sz="1575" b="1" i="0">
                <a:solidFill>
                  <a:srgbClr val="004AAD"/>
                </a:solidFill>
              </a:rPr>
              <a:t>Context pollution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BCE11-0524-4DC8-8164-0146993D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irrelevant detail competes with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E11B8-6E51-4CB9-9499-87AD2F13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0AEC6-F97B-4250-A0F4-64AAED01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88A00"/>
                </a:solidFill>
              </a:defRPr>
            </a:pPr>
            <a:r>
              <a:rPr sz="1575" b="1" i="0">
                <a:solidFill>
                  <a:srgbClr val="D88A00"/>
                </a:solidFill>
              </a:rPr>
              <a:t>Mixed goals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0875D-F68A-44C2-BD89-44CD619C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architect, coder, tester, reviewer in one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24579-5E4D-4712-9CCE-13D5A607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335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5B056-9FAB-42E0-89AB-350F21C4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04AAD"/>
                </a:solidFill>
              </a:defRPr>
            </a:pPr>
            <a:r>
              <a:rPr sz="1575" b="1" i="0">
                <a:solidFill>
                  <a:srgbClr val="004AAD"/>
                </a:solidFill>
              </a:rPr>
              <a:t>Noisy tool traces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4383B-5241-4DD5-AFBB-1E340891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long logs crowd out constraints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7946B-1907-424A-AEFB-446CB108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17E45-52AA-4EB9-BCAB-44ECA91F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814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D88A00"/>
                </a:solidFill>
              </a:defRPr>
            </a:pPr>
            <a:r>
              <a:rPr sz="1575" b="1" i="0">
                <a:solidFill>
                  <a:srgbClr val="D88A00"/>
                </a:solidFill>
              </a:rPr>
              <a:t>Compacting loss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D95BF4-928B-49EC-90FA-5683F9C9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important edges may be summarized away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5EE685-53E6-413F-B506-64F2A9F3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5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40FA5-427D-4D74-A5BB-AEE50A39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293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88A00"/>
                </a:solidFill>
              </a:defRPr>
            </a:pPr>
            <a:r>
              <a:rPr sz="1425" b="1" i="0">
                <a:solidFill>
                  <a:srgbClr val="D88A00"/>
                </a:solidFill>
              </a:rPr>
              <a:t>Signal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A6A5C6-C51F-4735-9E6E-AE5113BF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293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61A45"/>
                </a:solidFill>
              </a:defRPr>
            </a:pPr>
            <a:r>
              <a:rPr sz="1350" b="0" i="0">
                <a:solidFill>
                  <a:srgbClr val="061A45"/>
                </a:solidFill>
              </a:rPr>
              <a:t>When one paper gets noisy, create cleaner papers for local work.</a:t>
            </a:r>
          </a:p>
        </p:txBody>
      </p:sp>
    </p:spTree>
    <p:extLst>
      <p:ext uri="{BB962C8B-B14F-4D97-AF65-F5344CB8AC3E}">
        <p14:creationId xmlns:p14="http://schemas.microsoft.com/office/powerpoint/2010/main" val="55183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34091A-6654-4340-AF34-E06B425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A Subagent Gives a Local Task Its Own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A4F82-BBE2-4C3B-AA0A-C4538879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The main agent delegates noisy work and receives a compact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B7126-04A9-43E7-88EB-A61CA0F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D4B23-C289-4727-8DD4-DB0FB9C6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1CBA-989E-4DFC-AA8B-9E09B3C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04AAD"/>
                </a:solidFill>
              </a:defRPr>
            </a:pPr>
            <a:r>
              <a:rPr sz="1875" b="1" i="0">
                <a:solidFill>
                  <a:srgbClr val="004AAD"/>
                </a:solidFill>
              </a:rPr>
              <a:t>Main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B9D72-F572-4A45-878D-305093C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goal, constraints,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final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3BFF1-A9D4-4D78-AE05-304BE30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62100"/>
            <a:ext cx="2457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F4FA4-164B-4D72-ACE0-7FF53BA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335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8A43"/>
                </a:solidFill>
              </a:defRPr>
            </a:pPr>
            <a:r>
              <a:rPr sz="1500" b="1" i="0">
                <a:solidFill>
                  <a:srgbClr val="138A43"/>
                </a:solidFill>
              </a:rPr>
              <a:t>Research Subagent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A4695-60AA-423F-88C3-419C74FF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764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read docs and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E9C94-CDAA-43FB-BFA1-D578C804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90875"/>
            <a:ext cx="1333500" cy="-1143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62EEB-B392-4F39-9592-10FCF8C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9900"/>
            <a:ext cx="2457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13B52-6D47-4A92-B887-C37E8505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88A00"/>
                </a:solidFill>
              </a:defRPr>
            </a:pPr>
            <a:r>
              <a:rPr sz="1500" b="1" i="0">
                <a:solidFill>
                  <a:srgbClr val="D88A00"/>
                </a:solidFill>
              </a:rPr>
              <a:t>Test Subagent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EBFC8-48B0-4228-BAEF-68B95394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find coverage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B93BD-1E68-4B0C-992E-BC22A55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90875"/>
            <a:ext cx="1333500" cy="30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D00A1-61C1-4396-AFA0-8F491768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457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F8069-92CD-4658-8FF6-10A7E93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38A43"/>
                </a:solidFill>
              </a:defRPr>
            </a:pPr>
            <a:r>
              <a:rPr sz="1500" b="1" i="0">
                <a:solidFill>
                  <a:srgbClr val="138A43"/>
                </a:solidFill>
              </a:rPr>
              <a:t>Review Subagent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2C3E2-171F-4AF8-A262-7ECD9E0A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720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check risk and maintainability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089B3-1129-4762-A2AE-005C3A4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90875"/>
            <a:ext cx="1333500" cy="1752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50C5C-73DB-4989-AD27-F0A54FEC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476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F93B0-F498-4CD8-A865-9EC27E9B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B4AA1"/>
                </a:solidFill>
              </a:defRPr>
            </a:pPr>
            <a:r>
              <a:rPr sz="1800" b="1" i="0">
                <a:solidFill>
                  <a:srgbClr val="6B4AA1"/>
                </a:solidFill>
              </a:rPr>
              <a:t>Returned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8227B-0DE7-44AD-8433-05BB53F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152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findings, files,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risks, recommended</a:t>
            </a:r>
          </a:p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next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D4277-E80C-4FB3-A5BE-D7107C03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1200150" cy="11144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4BC66-8857-4F55-B2BF-760C636D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1200150" cy="-3333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88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8E293-E2F6-4BA2-835D-FBF7B25C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72050"/>
            <a:ext cx="1200150" cy="-17811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589C2-157A-43C1-A5CC-7F943DC6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914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AFC41-F5CB-43B6-9CAC-2DCD2DF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34075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A45"/>
                </a:solidFill>
              </a:defRPr>
            </a:pPr>
            <a:r>
              <a:rPr sz="1275" b="1" i="0">
                <a:solidFill>
                  <a:srgbClr val="061A45"/>
                </a:solidFill>
              </a:rPr>
              <a:t>A subagent is not magic autonomy; it is context isolation plus a bounded task.</a:t>
            </a:r>
          </a:p>
        </p:txBody>
      </p:sp>
    </p:spTree>
    <p:extLst>
      <p:ext uri="{BB962C8B-B14F-4D97-AF65-F5344CB8AC3E}">
        <p14:creationId xmlns:p14="http://schemas.microsoft.com/office/powerpoint/2010/main" val="1345155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25394-7726-476F-9E33-AA12C437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Use Subagents When the Split Reduces Friction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68A1F-76E2-486D-B86F-E60BA543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Delegation should make the task clearer, safer, or faster.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88AA8-2EEC-499B-9F72-47B49FC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D8DC3-E593-4FB9-8390-2FB8DBB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4762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7CFC0-5137-41E3-A06D-EA2581DD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85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38A43"/>
                </a:solidFill>
              </a:defRPr>
            </a:pPr>
            <a:r>
              <a:rPr sz="2250" b="1" i="0">
                <a:solidFill>
                  <a:srgbClr val="138A43"/>
                </a:solidFill>
              </a:rPr>
              <a:t>Good 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78687-5535-4CA4-80FF-BA5D7A9C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A1703-2A27-4AFD-A479-E3CEC297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Large reading or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E249B-AB2C-4448-A07B-A33AE90F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D727F-91A9-4FAB-B74B-FF75A69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Parallel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73F87-B2A9-45C2-BA17-3EB806FB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E79DA-3903-406E-B8C2-5A39894C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Specialized expertise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5CDF2-FE8B-4F08-9F47-9E85FEA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EF01E-4DFC-4752-9862-6A0F8AA0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Read-only risk isolation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EF1FE-1DF4-4777-962B-6549352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4762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4EB6F-ED5C-44E4-AF0B-4675A94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85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C2B2B"/>
                </a:solidFill>
              </a:defRPr>
            </a:pPr>
            <a:r>
              <a:rPr sz="2250" b="1" i="0">
                <a:solidFill>
                  <a:srgbClr val="CC2B2B"/>
                </a:solidFill>
              </a:rPr>
              <a:t>Stay main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5A68C-6D7C-457B-839D-973C7FB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8B075-DE3E-4B43-9EB9-2D555EE6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Tiny task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A45C4-3FA4-4A7E-9F40-32DC1953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64F9F-9E46-45D7-9013-321C2D1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861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Tightly coupled edit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162EDD-8635-4C73-9FFC-A60E7D27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584F8-D028-4B14-A1DA-86F72157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Shared context must be continuous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9A706-2D5F-49EE-9A32-1044442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3733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F0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058C3-0279-4E3D-A1AB-0D9B121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331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Merge cost exceeds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A8389-7315-411C-A07E-C0EBA277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19750"/>
            <a:ext cx="8877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7306F-BEB9-40AF-8126-A0517C27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1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88A00"/>
                </a:solidFill>
              </a:defRPr>
            </a:pPr>
            <a:r>
              <a:rPr sz="1500" b="1" i="0">
                <a:solidFill>
                  <a:srgbClr val="D88A00"/>
                </a:solidFill>
              </a:rPr>
              <a:t>Decision rule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9C931F-F867-42AB-A3B9-E6823DBB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9120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61A45"/>
                </a:solidFill>
              </a:defRPr>
            </a:pPr>
            <a:r>
              <a:rPr sz="1350" b="0" i="0">
                <a:solidFill>
                  <a:srgbClr val="061A45"/>
                </a:solidFill>
              </a:rPr>
              <a:t>Split work only when isolation, specialization, or parallelism beats coordination cost.</a:t>
            </a:r>
          </a:p>
        </p:txBody>
      </p:sp>
    </p:spTree>
    <p:extLst>
      <p:ext uri="{BB962C8B-B14F-4D97-AF65-F5344CB8AC3E}">
        <p14:creationId xmlns:p14="http://schemas.microsoft.com/office/powerpoint/2010/main" val="1199638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526C4-3985-445C-A0F3-6BB36B76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Workflow Means Passing Papers Through Stable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9014C-4522-40DA-8860-83B065D9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Each step should have a defined input, action, output, owner, and 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8BB40-BC32-4CA1-B217-1C53E4B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504CE-15E6-4972-98D6-BA5C323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E2783-DAF5-46D2-BDC2-DCFA8363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70F6E-6625-4287-99C0-A5980814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E8988-A67A-45F5-8C6F-EE4D0110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18949-AC8A-4713-B357-64AF4852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413A2-10FB-44A3-9A77-2CD6A97C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D22F5-D379-4644-BF41-947BCD0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7EED7-7DE9-42AE-83E8-A3CF9CF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22A19D-1B18-4256-84E1-5669408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290D6-6A2B-4F3E-9EF5-A119ED6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92592-8D1E-4944-A752-B7D80F88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scope and risks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FA3A3-61E5-4B70-A816-7404F8C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A3EEE-4048-4D34-98C4-2E95D8A6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A4280-87A0-4DC0-A329-4A42192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1DA54-DFFB-49CD-A432-64051836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64763-8F4A-428B-89CD-0B763251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Implement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DB6D1-8DEC-4A9F-87EA-0C45226A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B5F0B-178A-45DF-B2B3-30E72D28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16C6B-3CD2-4F10-AF0F-F84D1DE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9AD21-EB61-40EC-80F0-AE76D70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08D4D-2091-417F-AA71-21C38A63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3FD080-4766-444F-9C2C-79EF0CE8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8A43"/>
                </a:solidFill>
              </a:defRPr>
            </a:pPr>
            <a:r>
              <a:rPr sz="1425" b="1" i="0">
                <a:solidFill>
                  <a:srgbClr val="138A43"/>
                </a:solidFill>
              </a:rPr>
              <a:t>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61836-9CE9-4A0B-BD83-77672C70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47DFE-0C4A-4409-8E8D-0E313783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DF2D9-91F8-4BDE-9D53-6420DECD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F5E85-5460-47FF-A44F-8F4E538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E5069-38FE-4500-933C-D2B711E6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6229A-BA96-4EBB-A417-D65B20A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B26B1-6532-4A1D-A71F-56DEF65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findings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CDDAE-FEA6-492C-8578-9F8FD3E5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1D500B-3754-427D-B942-CBBD7C3F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FCC9B-6725-46E2-AB21-73CD4CC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75E8C-FD94-4882-A002-D2EE7A3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77ACB1-C17B-4050-B1E3-A0BA61A4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Fix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74EF7-4FFB-4908-A3A5-E31BB6E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resolved issues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6CDDB3-2ACC-480A-B99C-5A938F5E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E86B31-C1D8-4304-9BE8-2A9668E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095500"/>
            <a:ext cx="1314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8EB3A7-C979-42B1-A7B5-89E62E3A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305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859C6-7454-4FE9-98DC-F7C01476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00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D9F865-E572-43F0-9745-67EFEDA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194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Document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382B7B-E20A-46DB-B3EF-1AEA802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67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final notes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4EDC9A-E921-4AF4-8FF1-C4D195FE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9258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F6FEC6-D9C3-42A1-BF60-9C720D30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88A00"/>
                </a:solidFill>
              </a:defRPr>
            </a:pPr>
            <a:r>
              <a:rPr sz="1650" b="1" i="0">
                <a:solidFill>
                  <a:srgbClr val="D88A00"/>
                </a:solidFill>
              </a:rPr>
              <a:t>Workflow contract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70FC4-D77A-4C0B-BEB6-25210D07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61A45"/>
                </a:solidFill>
              </a:defRPr>
            </a:pPr>
            <a:r>
              <a:rPr sz="1350" b="0" i="0">
                <a:solidFill>
                  <a:srgbClr val="061A45"/>
                </a:solidFill>
              </a:rPr>
              <a:t>A workflow is not 'AI keeps going.' It is a repeatable rule for what artifact each step must produce before the next step starts.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A025D9-38FD-436F-811B-7509FFC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95950"/>
            <a:ext cx="7505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F124EC-5398-43DC-AA6E-F3B8DA6A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007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A45"/>
                </a:solidFill>
              </a:defRPr>
            </a:pPr>
            <a:r>
              <a:rPr sz="1275" b="1" i="0">
                <a:solidFill>
                  <a:srgbClr val="061A45"/>
                </a:solidFill>
              </a:rPr>
              <a:t>Stable steps make AI work inspectable instead of conversationally blurry.</a:t>
            </a:r>
          </a:p>
        </p:txBody>
      </p:sp>
    </p:spTree>
    <p:extLst>
      <p:ext uri="{BB962C8B-B14F-4D97-AF65-F5344CB8AC3E}">
        <p14:creationId xmlns:p14="http://schemas.microsoft.com/office/powerpoint/2010/main" val="863648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B3DD6-C9DF-45F9-A268-D15CFC8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Gates and Hooks Keep Workflow Deterministic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A7D48-9A38-48EA-B59D-40310456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The harness enforces control points around model-generated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49302-C960-411E-9B26-A2FE7942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F4818-59BD-4777-8869-DFAB64F1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25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ED06F-CE69-44EF-895F-F3DF7D0F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7122C-0855-4E7E-A840-2BA6361D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57400"/>
            <a:ext cx="2095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397F6-BA80-4F4A-9053-1CAFFE46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57350"/>
            <a:ext cx="125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C55FA-7A25-49D8-8062-D80174AD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240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46C90-7F51-4AA8-89A6-53DB0D7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57400"/>
            <a:ext cx="2095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6D1C8-ADBB-4E86-9D22-8C0EABF6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57350"/>
            <a:ext cx="125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1D077-FA6A-48C7-8A93-788DF01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3AB0B-0B71-4D00-B15E-6B6E6BA7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57400"/>
            <a:ext cx="2095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79FAA-D1FB-426A-903C-8AE41241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125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30BAE-7E4F-4C3B-9C90-94D5067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4AAD"/>
                </a:solidFill>
              </a:defRPr>
            </a:pPr>
            <a:r>
              <a:rPr sz="1650" b="1" i="0">
                <a:solidFill>
                  <a:srgbClr val="004AAD"/>
                </a:solidFill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74B8E-9FC7-48A3-AF38-073B39D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CE208-2F90-4B89-B030-C99CA12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D88A00"/>
                </a:solidFill>
              </a:defRPr>
            </a:pPr>
            <a:r>
              <a:rPr sz="1950" b="1" i="0">
                <a:solidFill>
                  <a:srgbClr val="D88A00"/>
                </a:solidFill>
              </a:rPr>
              <a:t>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CE62C-021B-4169-BECA-B0279AC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61A45"/>
                </a:solidFill>
              </a:defRPr>
            </a:pPr>
            <a:r>
              <a:rPr sz="1275" b="0" i="0">
                <a:solidFill>
                  <a:srgbClr val="061A45"/>
                </a:solidFill>
              </a:rPr>
              <a:t>re-plan, reduce scope, ask human, or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27805-C33F-4041-87BC-5688FB4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DF753-3B28-4DF6-8378-FDA3817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4AAD"/>
                </a:solidFill>
              </a:defRPr>
            </a:pPr>
            <a:r>
              <a:rPr sz="1350" b="1" i="0">
                <a:solidFill>
                  <a:srgbClr val="004AAD"/>
                </a:solidFill>
              </a:rPr>
              <a:t>Before tool use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2BEA5-2056-45EB-B1F9-A24DA2EC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approval or policy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FBCA5-7520-41F2-8C4D-DF8219E0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B0565-F737-4DC5-A313-6C3EF70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38A43"/>
                </a:solidFill>
              </a:defRPr>
            </a:pPr>
            <a:r>
              <a:rPr sz="1350" b="1" i="0">
                <a:solidFill>
                  <a:srgbClr val="138A43"/>
                </a:solidFill>
              </a:rPr>
              <a:t>After file edit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3BA4F-A1C2-4FA6-8F8E-3325269E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format and lint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9B054-2659-4B52-B09E-929C94AB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BD18D-1BDD-4B3B-9D84-1C540F7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4AAD"/>
                </a:solidFill>
              </a:defRPr>
            </a:pPr>
            <a:r>
              <a:rPr sz="1350" b="1" i="0">
                <a:solidFill>
                  <a:srgbClr val="004AAD"/>
                </a:solidFill>
              </a:rPr>
              <a:t>After test 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023AA-A3C5-4E38-99A8-283077E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write logs to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D447E-67A5-4E56-878E-C9A86806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67C64-466C-403C-96D7-B35C0431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38A43"/>
                </a:solidFill>
              </a:defRPr>
            </a:pPr>
            <a:r>
              <a:rPr sz="1350" b="1" i="0">
                <a:solidFill>
                  <a:srgbClr val="138A43"/>
                </a:solidFill>
              </a:rPr>
              <a:t>On error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A0DFE-CEF2-49E3-95F6-A738BB1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retry or 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C3148-2386-4FE6-BA67-4270C0F0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86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2AF1D7-5430-47EF-885E-1A8D73A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4AAD"/>
                </a:solidFill>
              </a:defRPr>
            </a:pPr>
            <a:r>
              <a:rPr sz="1350" b="1" i="0">
                <a:solidFill>
                  <a:srgbClr val="004AAD"/>
                </a:solidFill>
              </a:rPr>
              <a:t>On compact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7EFB2-CEB1-4EC7-8D67-909B0324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672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preserve key constraints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35091A-DAF5-4D17-B951-86A6329D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856607-AEB9-4833-8F81-5AAF6EBD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38A43"/>
                </a:solidFill>
              </a:defRPr>
            </a:pPr>
            <a:r>
              <a:rPr sz="1350" b="1" i="0">
                <a:solidFill>
                  <a:srgbClr val="138A43"/>
                </a:solidFill>
              </a:rPr>
              <a:t>On finish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7FFBF-144F-4F06-9134-88F5DD1A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6725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summary and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133A4D-F6E3-44EE-BC8C-7D81867F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91200"/>
            <a:ext cx="8877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478F9B-A601-45ED-B8D5-BD97DF6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A45"/>
                </a:solidFill>
              </a:defRPr>
            </a:pPr>
            <a:r>
              <a:rPr sz="1275" b="1" i="0">
                <a:solidFill>
                  <a:srgbClr val="061A45"/>
                </a:solidFill>
              </a:rPr>
              <a:t>Prompt asks. Hook enforces. Gate decides whether the workflow may move forward.</a:t>
            </a:r>
          </a:p>
        </p:txBody>
      </p:sp>
    </p:spTree>
    <p:extLst>
      <p:ext uri="{BB962C8B-B14F-4D97-AF65-F5344CB8AC3E}">
        <p14:creationId xmlns:p14="http://schemas.microsoft.com/office/powerpoint/2010/main" val="1436307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710E6-39C5-47C7-A47D-0C893EB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Teammate Mode Is More Than 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CA36A-D224-4D1B-9372-EDA19CC2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A teammate maintains goals, plans, evidence, and next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65998-7071-48D2-846C-5B077FE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B4F53-3FA6-4B47-9DF3-FEA0D642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4767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5F014-DC24-439E-B4C9-D4D9BCC6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431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04AAD"/>
                </a:solidFill>
              </a:defRPr>
            </a:pPr>
            <a:r>
              <a:rPr sz="2400" b="1" i="0">
                <a:solidFill>
                  <a:srgbClr val="004AAD"/>
                </a:solidFill>
              </a:rPr>
              <a:t>Chatbot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00217-9C60-4F43-BA44-AC90725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25336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2D698-BCC7-42A5-85DF-1885B20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1A45"/>
                </a:solidFill>
              </a:defRPr>
            </a:pPr>
            <a:r>
              <a:rPr sz="1350" b="1" i="0">
                <a:solidFill>
                  <a:srgbClr val="061A45"/>
                </a:solidFill>
              </a:rPr>
              <a:t>Q -&gt;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A951A-9C58-4219-A238-CF24A300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25336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E4422-C10A-4D55-9E28-9A9979B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1A45"/>
                </a:solidFill>
              </a:defRPr>
            </a:pPr>
            <a:r>
              <a:rPr sz="1350" b="1" i="0">
                <a:solidFill>
                  <a:srgbClr val="061A45"/>
                </a:solidFill>
              </a:rPr>
              <a:t>Q -&gt;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F25A2-8A4D-4B66-B179-D0D91A83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5336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9D4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17809-6B24-4FDB-9920-1799AC0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61A45"/>
                </a:solidFill>
              </a:defRPr>
            </a:pPr>
            <a:r>
              <a:rPr sz="1350" b="1" i="0">
                <a:solidFill>
                  <a:srgbClr val="061A45"/>
                </a:solidFill>
              </a:rPr>
              <a:t>Q -&gt;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75FA4-2921-4843-862F-50E6564F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00200"/>
            <a:ext cx="44767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9B314-7A88-4D3D-9743-4D72FF36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38A43"/>
                </a:solidFill>
              </a:defRPr>
            </a:pPr>
            <a:r>
              <a:rPr sz="2400" b="1" i="0">
                <a:solidFill>
                  <a:srgbClr val="138A43"/>
                </a:solidFill>
              </a:rPr>
              <a:t>Teammate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BE71F-1E4D-4D77-9383-EEC43CED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2890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BF66B-6B0B-46C2-AB9F-5756C78B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Goal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59B0E-73F7-4E6C-85E3-95025AF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4D0B4-018D-4076-A2DB-B545D379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3847D-F30F-4829-88FA-63CF363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F2E1E-4487-4C21-AF61-720F208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445B6-788D-4E1B-A8A8-2529A341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CAE6E-9DC8-4B5D-B8FE-540F788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01207-07B3-4093-BD48-AE3E16CA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67C66-8A5E-483E-A834-7B2B8477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814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FBD1C-E9AE-48D1-B2D9-201EDCEB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1238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DE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F7B29-F84C-49A7-A443-4406B99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81450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8A43"/>
                </a:solidFill>
              </a:defRPr>
            </a:pPr>
            <a:r>
              <a:rPr sz="1275" b="1" i="0">
                <a:solidFill>
                  <a:srgbClr val="138A43"/>
                </a:solidFill>
              </a:rPr>
              <a:t>Iterate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BD539-4EDC-4791-9552-F2BB8F54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91200"/>
            <a:ext cx="9182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A3CDF2-7632-47A0-A908-C87B485D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95975"/>
            <a:ext cx="811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A45"/>
                </a:solidFill>
              </a:defRPr>
            </a:pPr>
            <a:r>
              <a:rPr sz="1275" b="1" i="0">
                <a:solidFill>
                  <a:srgbClr val="061A45"/>
                </a:solidFill>
              </a:rPr>
              <a:t>A teammate continuously maintains the paper, instead of only answering the latest prompt.</a:t>
            </a:r>
          </a:p>
        </p:txBody>
      </p:sp>
    </p:spTree>
    <p:extLst>
      <p:ext uri="{BB962C8B-B14F-4D97-AF65-F5344CB8AC3E}">
        <p14:creationId xmlns:p14="http://schemas.microsoft.com/office/powerpoint/2010/main" val="683555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6A505-4669-42A0-988F-4DD59E7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AI Collaboration Needs Explicit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FB42E-FCB9-4A58-96E0-B787FC3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Autonomy should be scoped by file access, commands, risk, evidence, and stop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F1BF0-79A9-4C79-BE91-356CE386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52C4F-66D0-48F0-BBDC-A92C6AB6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3276600" cy="34480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EFAF2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FA287-F686-426A-AF2C-C9394F96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431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38A43"/>
                </a:solidFill>
              </a:defRPr>
            </a:pPr>
            <a:r>
              <a:rPr sz="2250" b="1" i="0">
                <a:solidFill>
                  <a:srgbClr val="138A43"/>
                </a:solidFill>
              </a:rPr>
              <a:t>Allowed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638FB-7F89-4FAC-9575-7E645AD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FC7C6-355D-4619-B3ED-2795DB4E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765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Inspect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E8E0B-930C-4AFC-B284-FEF85138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63BE9-0C52-4069-A25C-8D48D65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Propose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9DC83-1605-457A-B54E-F6735AEE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D2C03-82AC-4460-88E9-FA10632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052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Edit scoped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A5FF3-2229-4268-9D69-70681ED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5D87E-F492-4AA8-B29F-18C5392C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9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Run approved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1F3F8-304C-4549-874D-CA711C89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76600" cy="34480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C99E7-6D93-4AF3-B90B-C51D879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431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88A00"/>
                </a:solidFill>
              </a:defRPr>
            </a:pPr>
            <a:r>
              <a:rPr sz="2250" b="1" i="0">
                <a:solidFill>
                  <a:srgbClr val="D88A00"/>
                </a:solidFill>
              </a:rPr>
              <a:t>Needs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B022F-C519-4055-BA79-E63C4CE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908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A9F7D-EB2A-4391-A9C9-A1FBEE7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765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Delete 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E1663-69CF-4E23-BC07-71963D10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19EB3-F246-4D0E-B50F-F6D9EF34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Change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23DF8-90EC-4C7C-A7B9-A369A6BF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195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54C035-49F6-4D60-9C62-21CA880C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Modify production 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CE422-4642-4594-85D8-5F569FB0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338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A62F3-0C44-47D5-B564-85CE87EE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Access sensitive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4FDF4-3B72-4754-9135-6066235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276600" cy="34480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55D3F-684D-4F40-A0B9-CF2EE61D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CC2B2B"/>
                </a:solidFill>
              </a:defRPr>
            </a:pPr>
            <a:r>
              <a:rPr sz="2250" b="1" i="0">
                <a:solidFill>
                  <a:srgbClr val="CC2B2B"/>
                </a:solidFill>
              </a:rPr>
              <a:t>Forbidden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232B0-AA07-44C3-8556-4D1CC6A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AA3F5-9AFC-415E-A371-39A81D39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765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Touch secrets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1DAC4-383D-418B-888E-1CFD6870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955C1-0559-4333-B8A0-BA5A2025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Run destructive commands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3D36DC-8E1E-4EBC-AF07-8E9E7842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1767F-C1C8-4025-AD3A-5AC3492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Ignore failing tests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F1062-23FF-425A-B729-36A53334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24765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3FC8F-FADE-4CB6-8155-3DABFEAC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95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Invent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745F1B-4918-4D8C-80DE-C6410F6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38800"/>
            <a:ext cx="910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62F68-6251-45CD-BC16-B16B8E8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10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AAD"/>
                </a:solidFill>
              </a:defRPr>
            </a:pPr>
            <a:r>
              <a:rPr sz="1500" b="1" i="0">
                <a:solidFill>
                  <a:srgbClr val="004AAD"/>
                </a:solidFill>
              </a:rPr>
              <a:t>Boundary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DF829-DEBC-40A8-844E-8B2DC18A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0250"/>
            <a:ext cx="638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61A45"/>
                </a:solidFill>
              </a:defRPr>
            </a:pPr>
            <a:r>
              <a:rPr sz="1350" b="0" i="0">
                <a:solidFill>
                  <a:srgbClr val="061A45"/>
                </a:solidFill>
              </a:rPr>
              <a:t>The more side effects an action has, the more the harness needs permission, audit, and human control.</a:t>
            </a:r>
          </a:p>
        </p:txBody>
      </p:sp>
    </p:spTree>
    <p:extLst>
      <p:ext uri="{BB962C8B-B14F-4D97-AF65-F5344CB8AC3E}">
        <p14:creationId xmlns:p14="http://schemas.microsoft.com/office/powerpoint/2010/main" val="1001855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ACC058-E6EE-4514-A789-FA93E8B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Loop Coding Is Feedback-Driven Iteration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6C1E8-0DDA-4760-9E34-9E3D36C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AI coding is not Prompt -&gt; Code; it is Plan -&gt; Edit -&gt; Run -&gt; Observe -&gt; Fix -&gt; Verify.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50FC9-C489-498A-8209-3CDCAA9F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702AF-17DB-4704-B9C6-2DA5414C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4F8DB-36CC-4330-9FBF-EA84A9A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90CC1-5C4E-4805-938C-08E1072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66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5697A-04E3-4520-8E5C-836F3284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B5610-2624-434A-88A8-F4CFD7B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383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21D4B-B4D8-486F-B38F-FFA3DA38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716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DAB44-F57F-4CC8-9C3C-8C5FA2F1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66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DE1C3-BA45-416F-818A-D6285E05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288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8A43"/>
                </a:solidFill>
              </a:defRPr>
            </a:pPr>
            <a:r>
              <a:rPr sz="1425" b="1" i="0">
                <a:solidFill>
                  <a:srgbClr val="138A43"/>
                </a:solidFill>
              </a:rPr>
              <a:t>Edit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F10B7-59FB-4B1D-942A-88490B07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2D183-E251-42B0-9424-ECBF997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A00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52400-48F4-401C-A5E4-5AE0C4F4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8885F-2AE5-4613-BEEA-DFB86E0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88A00"/>
                </a:solidFill>
              </a:defRPr>
            </a:pPr>
            <a:r>
              <a:rPr sz="1425" b="1" i="0">
                <a:solidFill>
                  <a:srgbClr val="D88A00"/>
                </a:solidFill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1D97F-CC73-49EB-948A-4CC449E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909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3BF85-2E57-474F-846D-818C61EC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AA1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64271-A132-4E95-AFC6-94521B97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9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F96C0-00F1-4E94-A699-AF5E9344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6B4AA1"/>
                </a:solidFill>
              </a:defRPr>
            </a:pPr>
            <a:r>
              <a:rPr sz="1425" b="1" i="0">
                <a:solidFill>
                  <a:srgbClr val="6B4AA1"/>
                </a:solidFill>
              </a:rPr>
              <a:t>Observe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F133E-7C81-40FA-9456-F22DDC9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909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E77FA-1C24-4D83-BF79-DD43DFAE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24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2B2B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F8990-1010-4092-A893-EAD2298D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32B671-19C8-4851-BAED-7F760CAB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C2B2B"/>
                </a:solidFill>
              </a:defRPr>
            </a:pPr>
            <a:r>
              <a:rPr sz="1425" b="1" i="0">
                <a:solidFill>
                  <a:srgbClr val="CC2B2B"/>
                </a:solidFill>
              </a:rPr>
              <a:t>Fix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A20F2-57A9-43AF-99D7-74A3C42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909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F11D5-9257-4F27-8089-FB7344FD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B4BF6-C304-4673-BFCB-EA47394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95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D21FD-FBAB-46A5-BFEA-9771BF28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8A43"/>
                </a:solidFill>
              </a:defRPr>
            </a:pPr>
            <a:r>
              <a:rPr sz="1425" b="1" i="0">
                <a:solidFill>
                  <a:srgbClr val="138A43"/>
                </a:solidFill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B544A-C751-4E5F-9887-8B6ACB1E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7B7A9-A46D-452B-83BA-007C8C3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83A2BE-FCDE-4081-8B7F-7D814204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47950"/>
            <a:ext cx="0" cy="1047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19C8C-D129-480D-BBE9-319FACAC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48150"/>
            <a:ext cx="-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E937DD-378F-4AA9-AD33-DFEA36D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-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5FBC2-9183-453D-9D64-210A0E5B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90950"/>
            <a:ext cx="0" cy="-1047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4A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596D5D-E176-4C56-8C3D-5CE804E3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0C83CE-CF1C-4C03-9C1D-913792D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88A00"/>
                </a:solidFill>
              </a:defRPr>
            </a:pPr>
            <a:r>
              <a:rPr sz="1500" b="1" i="0">
                <a:solidFill>
                  <a:srgbClr val="D88A00"/>
                </a:solidFill>
              </a:rPr>
              <a:t>Harness role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7AF3E7-C5DF-4624-B4A5-2B8159CB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29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61A45"/>
                </a:solidFill>
              </a:defRPr>
            </a:pPr>
            <a:r>
              <a:rPr sz="1350" b="0" i="0">
                <a:solidFill>
                  <a:srgbClr val="061A45"/>
                </a:solidFill>
              </a:rPr>
              <a:t>Run commands, capture logs, write observations back, and keep the agent grounded in real feedback.</a:t>
            </a:r>
          </a:p>
        </p:txBody>
      </p:sp>
    </p:spTree>
    <p:extLst>
      <p:ext uri="{BB962C8B-B14F-4D97-AF65-F5344CB8AC3E}">
        <p14:creationId xmlns:p14="http://schemas.microsoft.com/office/powerpoint/2010/main" val="915669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B2382-3BEA-439C-92B1-94C1D0F7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A45"/>
                </a:solidFill>
              </a:defRPr>
            </a:pPr>
            <a:r>
              <a:rPr sz="2850" b="1" i="0">
                <a:solidFill>
                  <a:srgbClr val="061A45"/>
                </a:solidFill>
              </a:rPr>
              <a:t>End-to-End Agentic Code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0357B-3802-4FAA-8AAE-64A9B1C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38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004AAD"/>
                </a:solidFill>
              </a:defRPr>
            </a:pPr>
            <a:r>
              <a:rPr sz="1500" b="0" i="1">
                <a:solidFill>
                  <a:srgbClr val="004AAD"/>
                </a:solidFill>
              </a:rPr>
              <a:t>A complex task combines main context, subagent context, harness tools, gates, and final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BFE1A-EBD0-4EA4-BA58-EB292C0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28D8B-FE63-43F5-B2ED-14E8B88A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BAFF5-FD77-4560-8D2E-82988A30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06B77-826B-41BE-A39E-CCA513D6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AC64E-6AC5-4EBF-9846-8622107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Main agent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reads 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91E9A-9E30-4ACB-A4BF-C21671F9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9610A-FD7C-489E-9368-64D6D54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6A3B2-F868-4285-A73D-93F1056B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C863-E249-4F05-A33C-1A326F6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C15AB-23E2-40E0-AEC4-FB096AC6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Research subagent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finds relevant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CAAA0-80AD-4E91-96E7-07625F00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BE0EB-807F-47FD-A767-3F606437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98226-D731-4E11-9E9C-CEC80A08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A00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E185D-96C3-4992-AC94-EC56AED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A5B69-D27F-4149-9569-EE15A28F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61A45"/>
                </a:solidFill>
              </a:defRPr>
            </a:pPr>
            <a:r>
              <a:rPr sz="1200" b="1" i="0">
                <a:solidFill>
                  <a:srgbClr val="061A45"/>
                </a:solidFill>
              </a:rPr>
              <a:t>Plan and</a:t>
            </a:r>
          </a:p>
          <a:p xmlns:a="http://schemas.openxmlformats.org/drawingml/2006/main">
            <a:pPr algn="ctr">
              <a:defRPr sz="1200" b="1" i="0">
                <a:solidFill>
                  <a:srgbClr val="061A45"/>
                </a:solidFill>
              </a:defRPr>
            </a:pPr>
            <a:r>
              <a:rPr sz="1200" b="1" i="0">
                <a:solidFill>
                  <a:srgbClr val="061A45"/>
                </a:solidFill>
              </a:rPr>
              <a:t>human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ECF5C-32F1-4E38-90EF-E642504A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8F397-BD34-437D-A1E3-2597228F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B474D-92B1-48B6-8F46-4054A13A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4AA1"/>
          </a:solidFill>
          <a:ln xmlns:a="http://schemas.openxmlformats.org/drawingml/2006/main" w="10478">
            <a:solidFill>
              <a:srgbClr val="6B4A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C6984-EBA6-4DE2-B716-7A697F4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D8EAF-3201-428D-80E5-7FA34A8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Implementation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edits scoped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EE37A-7403-4DBC-A62A-55531F0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724D7-AF47-4C04-A778-4AD9C184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97231-95DC-4E1B-A416-6DD8FD7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2B2B"/>
          </a:solidFill>
          <a:ln xmlns:a="http://schemas.openxmlformats.org/drawingml/2006/main" w="10478">
            <a:solidFill>
              <a:srgbClr val="CC2B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D0839-B9DF-40D4-9AAA-730719B2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C7E7AA-9958-486D-A69B-F0F5D117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Tests run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logs return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23822-93C8-4652-BA96-BF347D4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37A41-354B-49CC-9460-E66C6A75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AEC54B-3833-4B22-8910-4A75C9E9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43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461F35-25BD-4C53-94AD-0AEEC15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9CB3B-6749-4340-9AB8-88E9B8D1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Review subagent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checks diff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F2379-41CF-453B-A36C-E909223D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14600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4AA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00FAB5-CEFC-4BE6-920A-EB72517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885950"/>
            <a:ext cx="1314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4B4BF5-F51B-4DDC-852E-5AC09F27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076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AAD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9C627-01AA-44FE-A006-23ADA17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171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C69D8F-CC2E-4435-BE29-F4CE8384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098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Final report</a:t>
            </a:r>
          </a:p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summarizes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B38E06-5762-4936-A17A-8A657BC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8F53F-7C3C-4AF4-9692-07867AF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04AAD"/>
                </a:solidFill>
              </a:defRPr>
            </a:pPr>
            <a:r>
              <a:rPr sz="1425" b="1" i="0">
                <a:solidFill>
                  <a:srgbClr val="004AAD"/>
                </a:solidFill>
              </a:rPr>
              <a:t>Main paper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6B0E3F-DB0B-41A5-8840-6F71BCC0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goal, plan, final decisions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E9B263-7A6A-402B-9FCD-A35872F0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5765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38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7B5687-4E84-4868-B6C9-BAFABD8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8A43"/>
                </a:solidFill>
              </a:defRPr>
            </a:pPr>
            <a:r>
              <a:rPr sz="1425" b="1" i="0">
                <a:solidFill>
                  <a:srgbClr val="138A43"/>
                </a:solidFill>
              </a:rPr>
              <a:t>Subagent papers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EC3CC3-2556-4AA2-8C77-B9B43E33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research logs, review notes, local evidence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C2E12B-F5C4-4D2B-91D5-0FF0127F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8A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12F292-2391-4CE8-8F98-F2A2BCE3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88A00"/>
                </a:solidFill>
              </a:defRPr>
            </a:pPr>
            <a:r>
              <a:rPr sz="1425" b="1" i="0">
                <a:solidFill>
                  <a:srgbClr val="D88A00"/>
                </a:solidFill>
              </a:rPr>
              <a:t>Harness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3FF5CE-9509-4FCB-809F-41F01C9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72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tools, tests, approvals, hooks, traces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34A9AC-C5D3-44E3-95D9-D624325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2190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10478">
            <a:solidFill>
              <a:srgbClr val="F0D89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D99185-381C-4134-A073-C35FB75D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D88A00"/>
                </a:solidFill>
              </a:defRPr>
            </a:pPr>
            <a:r>
              <a:rPr sz="1425" b="1" i="0">
                <a:solidFill>
                  <a:srgbClr val="D88A00"/>
                </a:solidFill>
              </a:rPr>
              <a:t>Human control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9A30EE-730E-4508-BD32-0AC51826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061A45"/>
                </a:solidFill>
              </a:defRPr>
            </a:pPr>
            <a:r>
              <a:rPr sz="1200" b="0" i="0">
                <a:solidFill>
                  <a:srgbClr val="061A45"/>
                </a:solidFill>
              </a:rPr>
              <a:t>approval at scope, risk, and merge points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71E109-917D-42DC-80BF-A091757D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33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004AA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E63F57-E05F-4E17-A124-4D73936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A45"/>
                </a:solidFill>
              </a:defRPr>
            </a:pPr>
            <a:r>
              <a:rPr sz="1275" b="1" i="0">
                <a:solidFill>
                  <a:srgbClr val="061A45"/>
                </a:solidFill>
              </a:rPr>
              <a:t>Engineering-grade AI collaboration is designed, bounded, measured, and verified.</a:t>
            </a:r>
          </a:p>
        </p:txBody>
      </p:sp>
    </p:spTree>
    <p:extLst>
      <p:ext uri="{BB962C8B-B14F-4D97-AF65-F5344CB8AC3E}">
        <p14:creationId xmlns:p14="http://schemas.microsoft.com/office/powerpoint/2010/main" val="1604652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2026-07-09T13:43:01.0840000Z</dcterms:created>
  <dcterms:modified xsi:type="dcterms:W3CDTF">2026-07-09T13:43:01.0840000Z</dcterms:modified>
</coreProperties>
</file>