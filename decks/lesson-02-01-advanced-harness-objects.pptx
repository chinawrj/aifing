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b3c907fb14eda" /><Relationship Type="http://schemas.openxmlformats.org/officeDocument/2006/relationships/extended-properties" Target="/docProps/app.xml" Id="R63471ea924584c20" /><Relationship Type="http://schemas.openxmlformats.org/officeDocument/2006/relationships/officeDocument" Target="/ppt/presentation.xml" Id="R386c5e2dd2f648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25b5382ea4441f"/>
  </p:sldMasterIdLst>
  <p:notesMasterIdLst>
    <p:notesMasterId xmlns:r="http://schemas.openxmlformats.org/officeDocument/2006/relationships" r:id="Ra965542efbba447b"/>
  </p:notesMasterIdLst>
  <p:sldIdLst>
    <p:sldId xmlns:r="http://schemas.openxmlformats.org/officeDocument/2006/relationships" id="256" r:id="R90da9504b0b94ac0"/>
    <p:sldId xmlns:r="http://schemas.openxmlformats.org/officeDocument/2006/relationships" id="257" r:id="Rf31b5c8b0e504265"/>
    <p:sldId xmlns:r="http://schemas.openxmlformats.org/officeDocument/2006/relationships" id="258" r:id="R99b4b6408ea846d1"/>
    <p:sldId xmlns:r="http://schemas.openxmlformats.org/officeDocument/2006/relationships" id="259" r:id="Rfc55686a0a934012"/>
    <p:sldId xmlns:r="http://schemas.openxmlformats.org/officeDocument/2006/relationships" id="260" r:id="Rf831b43917af4096"/>
    <p:sldId xmlns:r="http://schemas.openxmlformats.org/officeDocument/2006/relationships" id="261" r:id="Rd287a0f47d7046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af940dae114986" /><Relationship Type="http://schemas.openxmlformats.org/officeDocument/2006/relationships/slideMaster" Target="/ppt/slideMasters/slideMaster1.xml" Id="Rb225b5382ea4441f" /><Relationship Type="http://schemas.openxmlformats.org/officeDocument/2006/relationships/notesMaster" Target="/ppt/notesMasters/notesMaster1.xml" Id="Ra965542efbba447b" /><Relationship Type="http://schemas.openxmlformats.org/officeDocument/2006/relationships/presProps" Target="/ppt/presProps.xml" Id="R15e93eb181f74349" /><Relationship Type="http://schemas.openxmlformats.org/officeDocument/2006/relationships/tableStyles" Target="/ppt/tableStyles.xml" Id="Re7af48f3395a4924" /><Relationship Type="http://schemas.openxmlformats.org/officeDocument/2006/relationships/slide" Target="/ppt/slides/slide1.xml" Id="R90da9504b0b94ac0" /><Relationship Type="http://schemas.openxmlformats.org/officeDocument/2006/relationships/slide" Target="/ppt/slides/slide2.xml" Id="Rf31b5c8b0e504265" /><Relationship Type="http://schemas.openxmlformats.org/officeDocument/2006/relationships/slide" Target="/ppt/slides/slide3.xml" Id="R99b4b6408ea846d1" /><Relationship Type="http://schemas.openxmlformats.org/officeDocument/2006/relationships/slide" Target="/ppt/slides/slide4.xml" Id="Rfc55686a0a934012" /><Relationship Type="http://schemas.openxmlformats.org/officeDocument/2006/relationships/slide" Target="/ppt/slides/slide5.xml" Id="Rf831b43917af4096" /><Relationship Type="http://schemas.openxmlformats.org/officeDocument/2006/relationships/slide" Target="/ppt/slides/slide6.xml" Id="Rd287a0f47d70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352156efc7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a9c6486ab4223" /><Relationship Type="http://schemas.openxmlformats.org/officeDocument/2006/relationships/notesMaster" Target="/ppt/notesMasters/notesMaster1.xml" Id="Rdf9d6147d281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64f967916419e" /><Relationship Type="http://schemas.openxmlformats.org/officeDocument/2006/relationships/notesMaster" Target="/ppt/notesMasters/notesMaster1.xml" Id="Re86a3e77e2ce4b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e735c1ac6e4dd1" /><Relationship Type="http://schemas.openxmlformats.org/officeDocument/2006/relationships/notesMaster" Target="/ppt/notesMasters/notesMaster1.xml" Id="R8c52f158123a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422c3dc6aa460a" /><Relationship Type="http://schemas.openxmlformats.org/officeDocument/2006/relationships/notesMaster" Target="/ppt/notesMasters/notesMaster1.xml" Id="Ra9cfedbcedeb42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cc0fbe936c43e5" /><Relationship Type="http://schemas.openxmlformats.org/officeDocument/2006/relationships/notesMaster" Target="/ppt/notesMasters/notesMaster1.xml" Id="Rbdd300e22f6d49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9e34f93844ddc" /><Relationship Type="http://schemas.openxmlformats.org/officeDocument/2006/relationships/notesMaster" Target="/ppt/notesMasters/notesMaster1.xml" Id="Ra870af7e5e29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Lesson 2's advanced add-on. The point is that a harness manages runtime objects and contracts, not just one long prompt string.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current visible paper is assembled from many runtime objects. Each object has a different owner, risk profile, and rendering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lifecycle of a harness object. A production runtime should know where an object came from, why it was selected, how it is rendered, and how it is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tools as the clearest example of a runtime contract. The model proposes a structured request, but the harness validates, checks permission, executes, and writes the result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vocabulary. A skill guides work, a tool performs an action, an agent profile defines the work environment, permissions control risk, and observations record what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that object boundaries are practical: they keep the paper clean, reduce prompt pollution, make failures debuggable, and prepare learners for Lesson 3 without entering workflow orchestration.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7f704f2eb43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b7ea793474b9c" /><Relationship Type="http://schemas.openxmlformats.org/officeDocument/2006/relationships/slideLayout" Target="/ppt/slideLayouts/slideLayout1.xml" Id="Redcf1bc2db4e41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f1bc2db4e41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9460c9a04b04" /><Relationship Type="http://schemas.openxmlformats.org/officeDocument/2006/relationships/notesSlide" Target="/ppt/notesSlides/notesSlide1.xml" Id="R78c59bee633e48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525232d242f8" /><Relationship Type="http://schemas.openxmlformats.org/officeDocument/2006/relationships/notesSlide" Target="/ppt/notesSlides/notesSlide2.xml" Id="Rf0d4b780f5be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edb9a7929445c" /><Relationship Type="http://schemas.openxmlformats.org/officeDocument/2006/relationships/notesSlide" Target="/ppt/notesSlides/notesSlide3.xml" Id="R7dda027389f3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f9346d6734759" /><Relationship Type="http://schemas.openxmlformats.org/officeDocument/2006/relationships/notesSlide" Target="/ppt/notesSlides/notesSlide4.xml" Id="R0834ea1e844f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c039d83c740f5" /><Relationship Type="http://schemas.openxmlformats.org/officeDocument/2006/relationships/notesSlide" Target="/ppt/notesSlides/notesSlide5.xml" Id="Rc70dd957e67c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17b647195490d" /><Relationship Type="http://schemas.openxmlformats.org/officeDocument/2006/relationships/notesSlide" Target="/ppt/notesSlides/notesSlide6.xml" Id="R7a9302ff0ceb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5DD6D-AD0A-466F-B674-930AE5D4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61A45"/>
                </a:solidFill>
              </a:defRPr>
            </a:pPr>
            <a:r>
              <a:rPr sz="4200" b="1" i="0">
                <a:solidFill>
                  <a:srgbClr val="061A45"/>
                </a:solidFill>
              </a:rPr>
              <a:t>2.1 Advanced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CA7C-F811-4E4F-BAF7-26B8F15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1A45"/>
                </a:solidFill>
              </a:defRPr>
            </a:pPr>
            <a:r>
              <a:rPr sz="2700" b="1" i="0">
                <a:solidFill>
                  <a:srgbClr val="061A45"/>
                </a:solidFill>
              </a:rPr>
              <a:t>Harness Objects and Runtime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15609-0CB6-43CE-ACC7-5C73A0F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Prompt text becomes manageable only when the runtime objects around it are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B4F06-9843-4726-B1A3-6AA2F3D8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10F2-A2E2-4645-B887-1E9490B3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4AFA4-C5B6-4FB1-A06A-0504044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4AAD"/>
                </a:solidFill>
              </a:defRPr>
            </a:pPr>
            <a:r>
              <a:rPr sz="1800" b="1" i="0">
                <a:solidFill>
                  <a:srgbClr val="004AAD"/>
                </a:solidFill>
              </a:rPr>
              <a:t>What stays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0DBA-E779-42C6-A549-3021B4C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7813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The model still reads the paper.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The harness still prepares it.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Tools are still executed outside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5AE51-CB40-4AA8-A085-13AA948B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067CF-3CA3-462F-BBCE-C3E62BE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19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4AAD"/>
                </a:solidFill>
              </a:defRPr>
            </a:pPr>
            <a:r>
              <a:rPr sz="1800" b="1" i="0">
                <a:solidFill>
                  <a:srgbClr val="004AAD"/>
                </a:solidFill>
              </a:rPr>
              <a:t>What objects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D3422-76A2-46CF-9D6D-47B21D79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7813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Instructions, tools, skills, permissions, profiles, and observations become manageable runtime objects.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1E98B-3E55-449E-90F0-F425AD67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478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3E97E-0668-4A9C-8373-6318128E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88A00"/>
                </a:solidFill>
              </a:defRPr>
            </a:pPr>
            <a:r>
              <a:rPr sz="1800" b="1" i="0">
                <a:solidFill>
                  <a:srgbClr val="D88A00"/>
                </a:solidFill>
              </a:rPr>
              <a:t>What this is 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08AD5-4EFD-4DD1-9459-9E10BF3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7813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Not a longer prompt.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Not a workflow engine.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Not a subagent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3664F-8F7B-426B-B358-48714A07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1B168-41D3-43C3-A9C9-ACF56064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34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4AAD"/>
                </a:solidFill>
              </a:defRPr>
            </a:pPr>
            <a:r>
              <a:rPr sz="1725" b="1" i="0">
                <a:solidFill>
                  <a:srgbClr val="004AAD"/>
                </a:solidFill>
              </a:rPr>
              <a:t>Core idea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46193-FBB6-4F22-AF42-80D4856A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149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61A45"/>
                </a:solidFill>
              </a:defRPr>
            </a:pPr>
            <a:r>
              <a:rPr sz="1575" b="0" i="0">
                <a:solidFill>
                  <a:srgbClr val="061A45"/>
                </a:solidFill>
              </a:rPr>
              <a:t>Prompt controls text. Harness objects control what enters the paper and what can execute.</a:t>
            </a:r>
          </a:p>
        </p:txBody>
      </p:sp>
    </p:spTree>
    <p:extLst>
      <p:ext uri="{BB962C8B-B14F-4D97-AF65-F5344CB8AC3E}">
        <p14:creationId xmlns:p14="http://schemas.microsoft.com/office/powerpoint/2010/main" val="587742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29BDC-E35B-4D43-882A-D76F2D0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The Paper Is Built From Runtime 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E62D5-5D0C-4DF3-BF45-47C2905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The visible context is assembled, not simply typed as one prompt.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57DD-F013-416B-9107-BF3DDDF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0350-7F70-42BA-A241-E8420C3B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9F131-6A51-4055-869A-5FFAF6C3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4AAD"/>
                </a:solidFill>
              </a:defRPr>
            </a:pPr>
            <a:r>
              <a:rPr sz="2100" b="1" i="0">
                <a:solidFill>
                  <a:srgbClr val="004AAD"/>
                </a:solidFill>
              </a:rPr>
              <a:t>Visible 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B51CF-C57F-4804-9AC2-EF1563A9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7E1DD-9EC4-430A-A1F3-C571531D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4AAD"/>
                </a:solidFill>
              </a:defRPr>
            </a:pPr>
            <a:r>
              <a:rPr sz="1125" b="1" i="0">
                <a:solidFill>
                  <a:srgbClr val="004AAD"/>
                </a:solidFill>
              </a:rPr>
              <a:t>System / developer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ADDF2-076D-49BB-8E96-B057DFA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40BA1-0322-400F-A69C-5EE5EB1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956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43"/>
                </a:solidFill>
              </a:defRPr>
            </a:pPr>
            <a:r>
              <a:rPr sz="1125" b="1" i="0">
                <a:solidFill>
                  <a:srgbClr val="138A43"/>
                </a:solidFill>
              </a:rPr>
              <a:t>Selected user preferences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2D6A8-9727-489B-9362-700CBC3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DF6D0-31E0-4829-A556-A74A6BDC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88A00"/>
                </a:solidFill>
              </a:defRPr>
            </a:pPr>
            <a:r>
              <a:rPr sz="1125" b="1" i="0">
                <a:solidFill>
                  <a:srgbClr val="D88A00"/>
                </a:solidFill>
              </a:rPr>
              <a:t>Skill instructions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55065-2BFA-4E65-AE49-62C18BE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2EC27-E665-4CE2-A08A-EBE7DD7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00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B4AA1"/>
                </a:solidFill>
              </a:defRPr>
            </a:pPr>
            <a:r>
              <a:rPr sz="1125" b="1" i="0">
                <a:solidFill>
                  <a:srgbClr val="6B4AA1"/>
                </a:solidFill>
              </a:rPr>
              <a:t>Tool definitions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DFA8E-C6AC-48E8-BCD6-DFCB08C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E7D37-CE87-4570-8343-2AB52DE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Current task +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D56DA-CBBE-4F9D-A407-0B551C9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A600-2B90-4DB5-B82A-9E066A6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4AAD"/>
                </a:solidFill>
              </a:defRPr>
            </a:pPr>
            <a:r>
              <a:rPr sz="1125" b="1" i="0">
                <a:solidFill>
                  <a:srgbClr val="004AAD"/>
                </a:solidFill>
              </a:rPr>
              <a:t>Instruction objects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565EF-F3F4-4035-970C-C2A7E5A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roles,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0200D-1E21-4CB5-A053-F10C780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3357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B0395-6B6D-45C5-AE69-9E187BFB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7D57B-4434-4F99-B8FF-60697486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88A00"/>
                </a:solidFill>
              </a:defRPr>
            </a:pPr>
            <a:r>
              <a:rPr sz="1125" b="1" i="0">
                <a:solidFill>
                  <a:srgbClr val="D88A00"/>
                </a:solidFill>
              </a:rPr>
              <a:t>Skill objects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EB002-3688-4EDD-B080-7CBA969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reusable manuals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EF1DE-6E69-48A6-8B97-BDA209E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1942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8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9918D-DC46-4B10-9CE1-531BE32B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EEFC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585E1-91A2-4D79-92DD-B7280459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B4AA1"/>
                </a:solidFill>
              </a:defRPr>
            </a:pPr>
            <a:r>
              <a:rPr sz="1125" b="1" i="0">
                <a:solidFill>
                  <a:srgbClr val="6B4AA1"/>
                </a:solidFill>
              </a:rPr>
              <a:t>Permission objects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5F4ED-6718-45CF-A10C-6C5704E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allow, deny, 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2190D-BE4C-4838-A738-B57E1C06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0527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AA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2EFF0-802B-4C75-B43D-81F591F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86DC7-5043-45C1-9BB9-7B5BE80D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430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43"/>
                </a:solidFill>
              </a:defRPr>
            </a:pPr>
            <a:r>
              <a:rPr sz="1125" b="1" i="0">
                <a:solidFill>
                  <a:srgbClr val="138A43"/>
                </a:solidFill>
              </a:rPr>
              <a:t>Tool objects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06294-70B7-4ADA-9031-2B7BA304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schema + executor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C4686-702C-4557-AF8B-EA6B1F56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-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8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64AF8-AFD8-4AF5-BEF9-BE4DCCA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91FB8-8B26-4710-9427-892C6CDB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289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4AAD"/>
                </a:solidFill>
              </a:defRPr>
            </a:pPr>
            <a:r>
              <a:rPr sz="1125" b="1" i="0">
                <a:solidFill>
                  <a:srgbClr val="004AAD"/>
                </a:solidFill>
              </a:rPr>
              <a:t>Agent profile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486069-B6B8-4611-9FCB-9B0C5EE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3847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role + tools + limits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4168E2-81B2-4D61-8C21-7F195FD4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-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AF84C8-4864-48DE-8F89-554059B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857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0478">
            <a:solidFill>
              <a:srgbClr val="D7E6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F87C2-2AEE-453A-A0F5-D8C2323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147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C2B2B"/>
                </a:solidFill>
              </a:defRPr>
            </a:pPr>
            <a:r>
              <a:rPr sz="1125" b="1" i="0">
                <a:solidFill>
                  <a:srgbClr val="CC2B2B"/>
                </a:solidFill>
              </a:rPr>
              <a:t>Observation records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F48D8-DE80-4895-A0E2-14A2A5E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24325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61A45"/>
                </a:solidFill>
              </a:defRPr>
            </a:pPr>
            <a:r>
              <a:rPr sz="975" b="0" i="0">
                <a:solidFill>
                  <a:srgbClr val="061A45"/>
                </a:solidFill>
              </a:rPr>
              <a:t>results, errors,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487F0-58DD-4328-8771-508A23F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5275"/>
            <a:ext cx="-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C2B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1BA108-B161-476B-A150-E16E9EE9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81650"/>
            <a:ext cx="887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1AF17C-4F38-4DF1-91AA-889A4DB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4AAD"/>
                </a:solidFill>
              </a:defRPr>
            </a:pPr>
            <a:r>
              <a:rPr sz="1575" b="1" i="0">
                <a:solidFill>
                  <a:srgbClr val="004AAD"/>
                </a:solidFill>
              </a:rPr>
              <a:t>Harness job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AD1ACE-3937-4268-BC2B-1951082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61A45"/>
                </a:solidFill>
              </a:defRPr>
            </a:pPr>
            <a:r>
              <a:rPr sz="1425" b="0" i="0">
                <a:solidFill>
                  <a:srgbClr val="061A45"/>
                </a:solidFill>
              </a:rPr>
              <a:t>Select, order, render, and constrain the objects that become this call's paper.</a:t>
            </a:r>
          </a:p>
        </p:txBody>
      </p:sp>
    </p:spTree>
    <p:extLst>
      <p:ext uri="{BB962C8B-B14F-4D97-AF65-F5344CB8AC3E}">
        <p14:creationId xmlns:p14="http://schemas.microsoft.com/office/powerpoint/2010/main" val="432332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632F3-5BF2-471A-8BA6-CE5A769F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Object Lifecycle: Declare, Select, Render,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CF0D2-C50C-496F-AE82-2FFA0575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A harness object should be traceable before it reaches the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A442B-C75A-4AF2-87F0-7C5E575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29FF0-86E9-436E-8883-E70569C2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A5AD-F025-4600-AEB9-F09F2105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ED392-F5FE-4394-91A6-C8383481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EC92F-A910-4A9F-9585-E87206C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4AAD"/>
                </a:solidFill>
              </a:defRPr>
            </a:pPr>
            <a:r>
              <a:rPr sz="1800" b="1" i="0">
                <a:solidFill>
                  <a:srgbClr val="004AAD"/>
                </a:solidFill>
              </a:rPr>
              <a:t>Declare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91ED3-1BD6-4762-9141-5641C94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registry/config</a:t>
            </a:r>
          </a:p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version, owner,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21FB0-87BC-4FBA-A7CC-A37E7D78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D55E-AE11-4025-8D15-8BF268D8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CA1E6-DB18-48D7-8356-12426C7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E512-ACA9-461B-ADE7-526BE8E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6CB3B-F497-427D-A347-B45CF3B5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38A43"/>
                </a:solidFill>
              </a:defRPr>
            </a:pPr>
            <a:r>
              <a:rPr sz="1800" b="1" i="0">
                <a:solidFill>
                  <a:srgbClr val="138A43"/>
                </a:solidFill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0944E-566B-4D38-B61E-752A5E3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task fit</a:t>
            </a:r>
          </a:p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policy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D9DF8-BCD3-4E7B-842F-321F272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09B18-6DBD-4F72-B22F-811BE8C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859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04E70-F400-4DA1-80FD-0DDF424F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A00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FEB40-3625-43A2-AA8D-8EE371E1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4D1FB-1F9C-4362-823F-401A4F31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81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88A00"/>
                </a:solidFill>
              </a:defRPr>
            </a:pPr>
            <a:r>
              <a:rPr sz="1800" b="1" i="0">
                <a:solidFill>
                  <a:srgbClr val="D88A00"/>
                </a:solidFill>
              </a:rPr>
              <a:t>Render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F0191-814C-4146-8609-A56AB63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text/schema</a:t>
            </a:r>
          </a:p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placed on paper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38C8B-0FCF-4A76-A7D3-20EE52B6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1DEA6-98F2-4B18-B265-87EDF6EC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7BE6D-8AD4-440B-97C4-48647B5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AA1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448D1-2650-4C77-9C12-4FB32914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5C214-DF39-41A5-B6EE-4C8CC41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B4AA1"/>
                </a:solidFill>
              </a:defRPr>
            </a:pPr>
            <a:r>
              <a:rPr sz="1800" b="1" i="0">
                <a:solidFill>
                  <a:srgbClr val="6B4AA1"/>
                </a:solidFill>
              </a:rPr>
              <a:t>Validate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7081D-47DA-40AD-8D25-166073F4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schema, priority</a:t>
            </a:r>
          </a:p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permission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DBEAE-6D45-4017-AA1A-ADBB132E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82173-2700-4D47-B020-CCD44F71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752600" cy="1809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E2D40-CF89-41E0-A1A1-41EE2DC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2B2B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EAC1F-BBA9-400E-8815-CA222B8E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479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08D8A-2336-4082-B600-3A52DC31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C2B2B"/>
                </a:solidFill>
              </a:defRPr>
            </a:pPr>
            <a:r>
              <a:rPr sz="1800" b="1" i="0">
                <a:solidFill>
                  <a:srgbClr val="CC2B2B"/>
                </a:solidFill>
              </a:rPr>
              <a:t>Observe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3B64B6-D550-452C-B9F7-682E08D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logs, metrics</a:t>
            </a:r>
          </a:p>
          <a:p xmlns:a="http://schemas.openxmlformats.org/drawingml/2006/main">
            <a:pPr algn="ctr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eval cases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FDC47-4A45-4BF2-8F33-7E48871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21C84-BCE9-4F23-B137-CDCBC27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88A00"/>
                </a:solidFill>
              </a:defRPr>
            </a:pPr>
            <a:r>
              <a:rPr sz="1650" b="1" i="0">
                <a:solidFill>
                  <a:srgbClr val="D88A00"/>
                </a:solidFill>
              </a:rPr>
              <a:t>Advanced question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09457-2B82-46BD-85CE-2C2CD92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05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1A45"/>
                </a:solidFill>
              </a:defRPr>
            </a:pPr>
            <a:r>
              <a:rPr sz="1500" b="0" i="0">
                <a:solidFill>
                  <a:srgbClr val="061A45"/>
                </a:solidFill>
              </a:rPr>
              <a:t>For every object on the paper, can you explain where it came from, why it was selected, and what can override it?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BB393-21D5-4A53-B5E0-C050F56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34050"/>
            <a:ext cx="7696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A35486-2DD0-4CEA-A682-555C9E55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61A45"/>
                </a:solidFill>
              </a:defRPr>
            </a:pPr>
            <a:r>
              <a:rPr sz="1500" b="1" i="0">
                <a:solidFill>
                  <a:srgbClr val="061A45"/>
                </a:solidFill>
              </a:rPr>
              <a:t>If you cannot trace an object, you cannot reliably debug the answer.</a:t>
            </a:r>
          </a:p>
        </p:txBody>
      </p:sp>
    </p:spTree>
    <p:extLst>
      <p:ext uri="{BB962C8B-B14F-4D97-AF65-F5344CB8AC3E}">
        <p14:creationId xmlns:p14="http://schemas.microsoft.com/office/powerpoint/2010/main" val="816248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C85EC-5184-41FF-AE40-85E265CA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A Tool Is an Executable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CBA3B-5105-49E7-9356-93B219DA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The model proposes a request; the harness enforces the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6CF70-8B00-461C-9A0E-7DA47CF9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359A8-056C-4B63-A343-553B634F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876550" cy="31432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19E3E-DF29-4BEB-9BCB-EFE04343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4AAD"/>
                </a:solidFill>
              </a:defRPr>
            </a:pPr>
            <a:r>
              <a:rPr sz="1950" b="1" i="0">
                <a:solidFill>
                  <a:srgbClr val="004AAD"/>
                </a:solidFill>
              </a:rPr>
              <a:t>Model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108D2-A695-498F-9977-25FB662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38A43"/>
                </a:solidFill>
              </a:defRPr>
            </a:pPr>
            <a:r>
              <a:rPr sz="1650" b="1" i="0">
                <a:solidFill>
                  <a:srgbClr val="138A43"/>
                </a:solidFill>
              </a:rPr>
              <a:t>{</a:t>
            </a:r>
          </a:p>
          <a:p xmlns:a="http://schemas.openxmlformats.org/drawingml/2006/main">
            <a:pPr algn="ctr">
              <a:defRPr sz="1650" b="1" i="0">
                <a:solidFill>
                  <a:srgbClr val="138A43"/>
                </a:solidFill>
              </a:defRPr>
            </a:pPr>
            <a:r>
              <a:rPr sz="1650" b="1" i="0">
                <a:solidFill>
                  <a:srgbClr val="138A43"/>
                </a:solidFill>
              </a:rPr>
              <a:t>  "tool": "read_file",</a:t>
            </a:r>
          </a:p>
          <a:p xmlns:a="http://schemas.openxmlformats.org/drawingml/2006/main">
            <a:pPr algn="ctr">
              <a:defRPr sz="1650" b="1" i="0">
                <a:solidFill>
                  <a:srgbClr val="138A43"/>
                </a:solidFill>
              </a:defRPr>
            </a:pPr>
            <a:r>
              <a:rPr sz="1650" b="1" i="0">
                <a:solidFill>
                  <a:srgbClr val="138A43"/>
                </a:solidFill>
              </a:rPr>
              <a:t>  "path": "..."</a:t>
            </a:r>
          </a:p>
          <a:p xmlns:a="http://schemas.openxmlformats.org/drawingml/2006/main">
            <a:pPr algn="ctr">
              <a:defRPr sz="1650" b="1" i="0">
                <a:solidFill>
                  <a:srgbClr val="138A43"/>
                </a:solidFill>
              </a:defRPr>
            </a:pPr>
            <a:r>
              <a:rPr sz="1650" b="1" i="0">
                <a:solidFill>
                  <a:srgbClr val="138A43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124FE-DAF8-4CCC-BC09-F644BE6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Structured request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written on the 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D511D-24B2-43DF-863B-1A5079DD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57550"/>
            <a:ext cx="990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4EE47-2153-49DB-A448-7ED3F58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3429000" cy="38481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063CF-0BEC-414D-8365-94B4EC66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8A43"/>
                </a:solidFill>
              </a:defRPr>
            </a:pPr>
            <a:r>
              <a:rPr sz="2100" b="1" i="0">
                <a:solidFill>
                  <a:srgbClr val="138A43"/>
                </a:solidFill>
              </a:rPr>
              <a:t>Tool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AE7B5-513A-48CB-A42F-DE0A05B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960D3-30CD-4714-8AB5-CE740FDC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stable callable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A1D81-5DB6-4AED-B407-2DA0735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C6B1-C9E4-4BDD-A2A4-6B9943FD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valid argument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860AC-3EF8-4F57-94D3-AA43122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Permission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5A3D7-4D89-43CE-9176-3CE7EAD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who may run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2F013-C66E-4851-9533-4EEF0D2F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Executor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F622C-1906-4804-AC70-EEEDC801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real code/API called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ECD97-CD9D-4645-8D09-48CA68C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Result shape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FE52B-5068-44E7-8D3B-D3214014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what comes 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6F791-ADAD-492A-B392-4FF6EB68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624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Failure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AFB10-FAAD-4AC4-A946-997299D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61A45"/>
                </a:solidFill>
              </a:defRPr>
            </a:pPr>
            <a:r>
              <a:rPr sz="1125" b="0" i="0">
                <a:solidFill>
                  <a:srgbClr val="061A45"/>
                </a:solidFill>
              </a:rPr>
              <a:t>reject, retry, 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B6511-7492-45A9-B163-DA4B8DD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990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E1E10-392D-4486-B9A4-1B8F383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95450"/>
            <a:ext cx="1524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BE16A7-EF84-4073-B179-F7B4720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10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88A00"/>
                </a:solidFill>
              </a:defRPr>
            </a:pPr>
            <a:r>
              <a:rPr sz="1800" b="1" i="0">
                <a:solidFill>
                  <a:srgbClr val="D88A00"/>
                </a:solidFill>
              </a:rPr>
              <a:t>Harness</a:t>
            </a:r>
          </a:p>
          <a:p xmlns:a="http://schemas.openxmlformats.org/drawingml/2006/main">
            <a:pPr algn="ctr">
              <a:defRPr sz="1800" b="1" i="0">
                <a:solidFill>
                  <a:srgbClr val="D88A00"/>
                </a:solidFill>
              </a:defRPr>
            </a:pPr>
            <a:r>
              <a:rPr sz="1800" b="1" i="0">
                <a:solidFill>
                  <a:srgbClr val="D88A00"/>
                </a:solidFill>
              </a:rPr>
              <a:t>runs 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26881-524F-40BC-A928-77C30214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28950"/>
            <a:ext cx="106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Validate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Check risk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Run tool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Write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6DE90-7F00-4D99-B84A-C9583B1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6900"/>
            <a:ext cx="948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D9C42-8FCF-408A-BEC5-6E68E46D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38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4AAD"/>
                </a:solidFill>
              </a:defRPr>
            </a:pPr>
            <a:r>
              <a:rPr sz="1575" b="1" i="0">
                <a:solidFill>
                  <a:srgbClr val="004AAD"/>
                </a:solidFill>
              </a:rPr>
              <a:t>Safety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BEABD-085E-4487-9905-F9CE5D94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29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61A45"/>
                </a:solidFill>
              </a:defRPr>
            </a:pPr>
            <a:r>
              <a:rPr sz="1425" b="0" i="0">
                <a:solidFill>
                  <a:srgbClr val="061A45"/>
                </a:solidFill>
              </a:rPr>
              <a:t>Schema constrains shape. Permission and policy decide whether to run.</a:t>
            </a:r>
          </a:p>
        </p:txBody>
      </p:sp>
    </p:spTree>
    <p:extLst>
      <p:ext uri="{BB962C8B-B14F-4D97-AF65-F5344CB8AC3E}">
        <p14:creationId xmlns:p14="http://schemas.microsoft.com/office/powerpoint/2010/main" val="1969127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FADE4-B1BD-466F-93BA-E3E39BB3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Skill, Tool, Agent Profile: Different 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E1038-B9EB-4062-A64C-3B897D3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Do not overload one word for different runtime responsibilities.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545C9-391B-43A5-B941-2ADF03D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86978-AEB0-47E7-8DBB-94F37CA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433B4-6638-4F0B-83E9-761805C3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0A33F-EDCF-4637-9409-6919852F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478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What it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1BE3D-9AD6-4FFC-B381-B078CE5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47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Paper Model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551C9-BF46-4DE6-8D10-0442548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47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Typical 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43B5-71B2-45E5-9146-30D9036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AD284-603B-4DDA-835C-02FC58A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78281-C3C4-4BC9-95BB-32A4603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How to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170A0-5C04-436D-9C6B-9B832F4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Reusable manual added when relevant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BA727-3438-4639-9789-D7807134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Too vague or always loaded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E9AE8-0998-4844-85BA-7D8B9AB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10101-EECA-4BF4-9EB8-0246426E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D4E74-0C33-4C73-A7A4-5B93111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What can 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7D9B9-5067-44C8-B59C-BC5902C7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19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Callable contract outside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CA07-7930-4E06-8B4E-9E8A5C4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Schema without permission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E6BAF-56F5-423A-B3DD-8E75FE3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B1ED-C48C-48B8-A149-9EA4B485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Agent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F84F7-68C4-4110-BE43-B94E03E6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Work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30026-7EA9-4A5F-9E2F-CE52CDE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05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Role, tools, limits, stop condition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B292A-1C25-460A-A24E-3AAFF65A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Confused with subagent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A46EC-11B5-4300-A4BF-1811430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9DFB0-EFA5-4385-BA66-7605E33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Permission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496B2-F829-449B-B312-DAD6EF52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What may happen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D14B5-8A01-4A9A-B6CA-9DE4A37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Risk gate before side effects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1511F5-FFA0-497C-BBBD-D87789C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Model decides risk alone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69F62-F8A9-4E49-B4C6-51138544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1B8A0-AC38-4DAE-8D07-DB10C9E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Observation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2FB510-FDD2-4EC9-BE5F-0D1DA47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76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What happened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390D5-04F2-4337-B445-CE5C13C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Tool result, error, trace, eval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5BBEE-B006-41AD-B435-02DDAA9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Untrusted data treated as rules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CB5D3-09E5-459E-B520-799EDFFB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57850"/>
            <a:ext cx="9258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5E9CB-7611-4F71-9EEA-E31A49A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4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88A00"/>
                </a:solidFill>
              </a:defRPr>
            </a:pPr>
            <a:r>
              <a:rPr sz="1575" b="1" i="0">
                <a:solidFill>
                  <a:srgbClr val="D88A00"/>
                </a:solidFill>
              </a:rPr>
              <a:t>Rule of thumb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6B4DF-7D67-4BD1-962D-A9CA4D3B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293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61A45"/>
                </a:solidFill>
              </a:defRPr>
            </a:pPr>
            <a:r>
              <a:rPr sz="1425" b="0" i="0">
                <a:solidFill>
                  <a:srgbClr val="061A45"/>
                </a:solidFill>
              </a:rPr>
              <a:t>Skill guides work. Tool performs action. Agent profile defines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51715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B7CB5-956C-4BC3-98AE-F9EA785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Object Boundaries Keep the Paper Clean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E9B8-55C0-4F4C-9C76-D7023E1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Clear contracts make the harness maintainable, safer, and easier to debug.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1A4AC-7D0D-48F2-803B-59BA40DD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C2E8D-072E-47E7-AE15-C42337D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B11B7-5F4A-4F59-AA8F-ED86240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C2B2B"/>
                </a:solidFill>
              </a:defRPr>
            </a:pPr>
            <a:r>
              <a:rPr sz="2100" b="1" i="0">
                <a:solidFill>
                  <a:srgbClr val="CC2B2B"/>
                </a:solidFill>
              </a:rPr>
              <a:t>Bad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737F4-E777-45AF-8CB7-69BEE22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85ED9-BDFC-45AC-8B75-B36418B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Repeated rules everywhere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F3612-1035-4DFC-B810-B5742E5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A5CA4-558E-44EC-82C5-D83516E6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Tool outputs treated as 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AF3FB-C737-480A-A42A-FD9ADA7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87B16-CBF1-4675-B117-A2AE6E2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Permissions hidden in prompts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544C7-BFB3-47CF-A2D7-4CEF55B1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9499F-08B2-4E50-8E26-1FE77AF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No trace of object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BD23D-DCD6-4701-BB4C-D9A58FAB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7625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7F0F2-2C07-4FB1-BFFE-16CE3422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8A43"/>
                </a:solidFill>
              </a:defRPr>
            </a:pPr>
            <a:r>
              <a:rPr sz="2100" b="1" i="0">
                <a:solidFill>
                  <a:srgbClr val="138A43"/>
                </a:solidFill>
              </a:rPr>
              <a:t>Good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6B20A-C94E-40C0-B5FD-5979A20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0B1EB-F05B-408D-A4E8-9F3D8C80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Objects have owners and versions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D1D7C-99BD-4E36-BDDB-69944104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CE8A7-A0CE-4747-ABA5-E17EF480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Data stays separate from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4621C-5D95-44A0-B516-0E44EB26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CFC58-56A6-404F-8438-EDFFC8E5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Risk gates are explicit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AEEAA-6304-4B6B-9BF1-06568C3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3848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76F24-E114-4083-86C5-DB9E4ED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Logs show what entered the paper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43FBB-108C-4466-AE9B-C09364CA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975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6EB7A-41E2-4175-8DB8-AAB2C356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Lesson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1672A-587C-4753-B36E-94BFF1E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81650"/>
            <a:ext cx="693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1A45"/>
                </a:solidFill>
              </a:defRPr>
            </a:pPr>
            <a:r>
              <a:rPr sz="1500" b="0" i="0">
                <a:solidFill>
                  <a:srgbClr val="061A45"/>
                </a:solidFill>
              </a:rPr>
              <a:t>Lesson 2.1 covers one harness runtime. Lesson 3 covers subagents, workflows, and multi-step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29070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2026-07-09T12:44:59.7480000Z</dcterms:created>
  <dcterms:modified xsi:type="dcterms:W3CDTF">2026-07-09T12:44:59.7480000Z</dcterms:modified>
</coreProperties>
</file>